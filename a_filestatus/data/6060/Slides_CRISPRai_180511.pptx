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1235" r:id="rId2"/>
    <p:sldId id="1210" r:id="rId3"/>
    <p:sldId id="1211" r:id="rId4"/>
    <p:sldId id="1220" r:id="rId5"/>
    <p:sldId id="1221" r:id="rId6"/>
    <p:sldId id="1222" r:id="rId7"/>
    <p:sldId id="1226" r:id="rId8"/>
    <p:sldId id="1224" r:id="rId9"/>
    <p:sldId id="1213" r:id="rId10"/>
    <p:sldId id="1241" r:id="rId11"/>
    <p:sldId id="1234" r:id="rId12"/>
    <p:sldId id="1230" r:id="rId13"/>
    <p:sldId id="1231" r:id="rId14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00"/>
    <a:srgbClr val="006600"/>
    <a:srgbClr val="FFCC66"/>
    <a:srgbClr val="EBFFEC"/>
    <a:srgbClr val="F1FFF3"/>
    <a:srgbClr val="FAFFDD"/>
    <a:srgbClr val="42A13B"/>
    <a:srgbClr val="E38D00"/>
    <a:srgbClr val="CC8606"/>
    <a:srgbClr val="FBFF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64" autoAdjust="0"/>
    <p:restoredTop sz="94624" autoAdjust="0"/>
  </p:normalViewPr>
  <p:slideViewPr>
    <p:cSldViewPr>
      <p:cViewPr varScale="1">
        <p:scale>
          <a:sx n="109" d="100"/>
          <a:sy n="109" d="100"/>
        </p:scale>
        <p:origin x="3282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75" d="100"/>
        <a:sy n="75" d="100"/>
      </p:scale>
      <p:origin x="0" y="446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2" tIns="46660" rIns="93322" bIns="46660" numCol="1" anchor="t" anchorCtr="0" compatLnSpc="1">
            <a:prstTxWarp prst="textNoShape">
              <a:avLst/>
            </a:prstTxWarp>
          </a:bodyPr>
          <a:lstStyle>
            <a:lvl1pPr defTabSz="933450">
              <a:spcBef>
                <a:spcPct val="0"/>
              </a:spcBef>
              <a:buFontTx/>
              <a:buNone/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2" tIns="46660" rIns="93322" bIns="46660" numCol="1" anchor="t" anchorCtr="0" compatLnSpc="1">
            <a:prstTxWarp prst="textNoShape">
              <a:avLst/>
            </a:prstTxWarp>
          </a:bodyPr>
          <a:lstStyle>
            <a:lvl1pPr algn="r" defTabSz="933450">
              <a:spcBef>
                <a:spcPct val="0"/>
              </a:spcBef>
              <a:buFontTx/>
              <a:buNone/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31265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2" tIns="46660" rIns="93322" bIns="46660" numCol="1" anchor="b" anchorCtr="0" compatLnSpc="1">
            <a:prstTxWarp prst="textNoShape">
              <a:avLst/>
            </a:prstTxWarp>
          </a:bodyPr>
          <a:lstStyle>
            <a:lvl1pPr defTabSz="933450">
              <a:spcBef>
                <a:spcPct val="0"/>
              </a:spcBef>
              <a:buFontTx/>
              <a:buNone/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1265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2" tIns="46660" rIns="93322" bIns="46660" numCol="1" anchor="b" anchorCtr="0" compatLnSpc="1">
            <a:prstTxWarp prst="textNoShape">
              <a:avLst/>
            </a:prstTxWarp>
          </a:bodyPr>
          <a:lstStyle>
            <a:lvl1pPr algn="r" defTabSz="933450">
              <a:spcBef>
                <a:spcPct val="0"/>
              </a:spcBef>
              <a:buFontTx/>
              <a:buNone/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D8098273-62A8-4C64-971A-C105D501665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935287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2" tIns="46660" rIns="93322" bIns="46660" numCol="1" anchor="t" anchorCtr="0" compatLnSpc="1">
            <a:prstTxWarp prst="textNoShape">
              <a:avLst/>
            </a:prstTxWarp>
          </a:bodyPr>
          <a:lstStyle>
            <a:lvl1pPr defTabSz="933450">
              <a:spcBef>
                <a:spcPct val="0"/>
              </a:spcBef>
              <a:buFontTx/>
              <a:buNone/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2" tIns="46660" rIns="93322" bIns="46660" numCol="1" anchor="t" anchorCtr="0" compatLnSpc="1">
            <a:prstTxWarp prst="textNoShape">
              <a:avLst/>
            </a:prstTxWarp>
          </a:bodyPr>
          <a:lstStyle>
            <a:lvl1pPr algn="r" defTabSz="933450">
              <a:spcBef>
                <a:spcPct val="0"/>
              </a:spcBef>
              <a:buFontTx/>
              <a:buNone/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4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7"/>
            <a:ext cx="5140325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2" tIns="46660" rIns="93322" bIns="466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31265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2" tIns="46660" rIns="93322" bIns="46660" numCol="1" anchor="b" anchorCtr="0" compatLnSpc="1">
            <a:prstTxWarp prst="textNoShape">
              <a:avLst/>
            </a:prstTxWarp>
          </a:bodyPr>
          <a:lstStyle>
            <a:lvl1pPr defTabSz="933450">
              <a:spcBef>
                <a:spcPct val="0"/>
              </a:spcBef>
              <a:buFontTx/>
              <a:buNone/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31265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2" tIns="46660" rIns="93322" bIns="46660" numCol="1" anchor="b" anchorCtr="0" compatLnSpc="1">
            <a:prstTxWarp prst="textNoShape">
              <a:avLst/>
            </a:prstTxWarp>
          </a:bodyPr>
          <a:lstStyle>
            <a:lvl1pPr algn="r" defTabSz="933450">
              <a:spcBef>
                <a:spcPct val="0"/>
              </a:spcBef>
              <a:buFontTx/>
              <a:buNone/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B88E61E4-5A3E-4646-90F7-27102776C42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178353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8E61E4-5A3E-4646-90F7-27102776C42B}" type="slidenum">
              <a:rPr lang="en-US" altLang="zh-CN" smtClean="0"/>
              <a:pPr>
                <a:defRPr/>
              </a:pPr>
              <a:t>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9565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8E61E4-5A3E-4646-90F7-27102776C42B}" type="slidenum">
              <a:rPr lang="en-US" altLang="zh-CN" smtClean="0"/>
              <a:pPr>
                <a:defRPr/>
              </a:pPr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033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8E61E4-5A3E-4646-90F7-27102776C42B}" type="slidenum">
              <a:rPr lang="en-US" altLang="zh-CN" smtClean="0"/>
              <a:pPr>
                <a:defRPr/>
              </a:pPr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999454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8E61E4-5A3E-4646-90F7-27102776C42B}" type="slidenum">
              <a:rPr lang="en-US" altLang="zh-CN" smtClean="0"/>
              <a:pPr>
                <a:defRPr/>
              </a:pPr>
              <a:t>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353924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8E61E4-5A3E-4646-90F7-27102776C42B}" type="slidenum">
              <a:rPr lang="en-US" altLang="zh-CN" smtClean="0"/>
              <a:pPr>
                <a:defRPr/>
              </a:pPr>
              <a:t>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151876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8E61E4-5A3E-4646-90F7-27102776C42B}" type="slidenum">
              <a:rPr lang="en-US" altLang="zh-CN" smtClean="0"/>
              <a:pPr>
                <a:defRPr/>
              </a:pPr>
              <a:t>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549681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 eaLnBrk="0" hangingPunct="0">
              <a:defRPr sz="1600">
                <a:solidFill>
                  <a:schemeClr val="tx1"/>
                </a:solidFill>
                <a:latin typeface="Verdana" charset="0"/>
                <a:ea typeface="SimSun" charset="0"/>
                <a:cs typeface="SimSun" charset="0"/>
              </a:defRPr>
            </a:lvl1pPr>
            <a:lvl2pPr marL="742950" indent="-285750" defTabSz="933450" eaLnBrk="0" hangingPunct="0">
              <a:defRPr sz="1600">
                <a:solidFill>
                  <a:schemeClr val="tx1"/>
                </a:solidFill>
                <a:latin typeface="Verdana" charset="0"/>
                <a:ea typeface="SimSun" charset="0"/>
                <a:cs typeface="SimSun" charset="0"/>
              </a:defRPr>
            </a:lvl2pPr>
            <a:lvl3pPr marL="1143000" indent="-228600" defTabSz="933450" eaLnBrk="0" hangingPunct="0">
              <a:defRPr sz="1600">
                <a:solidFill>
                  <a:schemeClr val="tx1"/>
                </a:solidFill>
                <a:latin typeface="Verdana" charset="0"/>
                <a:ea typeface="SimSun" charset="0"/>
                <a:cs typeface="SimSun" charset="0"/>
              </a:defRPr>
            </a:lvl3pPr>
            <a:lvl4pPr marL="1600200" indent="-228600" defTabSz="933450" eaLnBrk="0" hangingPunct="0">
              <a:defRPr sz="1600">
                <a:solidFill>
                  <a:schemeClr val="tx1"/>
                </a:solidFill>
                <a:latin typeface="Verdana" charset="0"/>
                <a:ea typeface="SimSun" charset="0"/>
                <a:cs typeface="SimSun" charset="0"/>
              </a:defRPr>
            </a:lvl4pPr>
            <a:lvl5pPr marL="2057400" indent="-228600" defTabSz="933450" eaLnBrk="0" hangingPunct="0">
              <a:defRPr sz="1600">
                <a:solidFill>
                  <a:schemeClr val="tx1"/>
                </a:solidFill>
                <a:latin typeface="Verdana" charset="0"/>
                <a:ea typeface="SimSun" charset="0"/>
                <a:cs typeface="SimSun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charset="0"/>
                <a:ea typeface="SimSun" charset="0"/>
                <a:cs typeface="SimSun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charset="0"/>
                <a:ea typeface="SimSun" charset="0"/>
                <a:cs typeface="SimSun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charset="0"/>
                <a:ea typeface="SimSun" charset="0"/>
                <a:cs typeface="SimSun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charset="0"/>
                <a:ea typeface="SimSun" charset="0"/>
                <a:cs typeface="SimSun" charset="0"/>
              </a:defRPr>
            </a:lvl9pPr>
          </a:lstStyle>
          <a:p>
            <a:pPr eaLnBrk="1" hangingPunct="1"/>
            <a:fld id="{56E46301-93DE-7D4A-A3AF-489AC939EB42}" type="slidenum">
              <a:rPr lang="en-US" altLang="zh-CN" sz="1200">
                <a:latin typeface="Times New Roman" charset="0"/>
              </a:rPr>
              <a:pPr eaLnBrk="1" hangingPunct="1"/>
              <a:t>10</a:t>
            </a:fld>
            <a:endParaRPr lang="en-US" altLang="zh-CN" sz="1200">
              <a:latin typeface="Times New Roman" charset="0"/>
            </a:endParaRPr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SimSun" charset="0"/>
              <a:cs typeface="SimSu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36203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8E61E4-5A3E-4646-90F7-27102776C42B}" type="slidenum">
              <a:rPr lang="en-US" altLang="zh-CN" smtClean="0"/>
              <a:pPr>
                <a:defRPr/>
              </a:pPr>
              <a:t>11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88137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324600" y="6248400"/>
            <a:ext cx="19050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6F3181-D5F4-448E-B8DB-30A2C7B572F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305800" cy="4876800"/>
          </a:xfrm>
        </p:spPr>
        <p:txBody>
          <a:bodyPr/>
          <a:lstStyle>
            <a:lvl1pPr>
              <a:spcBef>
                <a:spcPts val="1200"/>
              </a:spcBef>
              <a:defRPr sz="2800">
                <a:latin typeface="Open Sans"/>
                <a:cs typeface="Open Sans"/>
              </a:defRPr>
            </a:lvl1pPr>
            <a:lvl2pPr>
              <a:spcBef>
                <a:spcPts val="1200"/>
              </a:spcBef>
              <a:defRPr sz="2400">
                <a:latin typeface="Open Sans"/>
                <a:cs typeface="Open Sans"/>
              </a:defRPr>
            </a:lvl2pPr>
            <a:lvl3pPr>
              <a:spcBef>
                <a:spcPts val="600"/>
              </a:spcBef>
              <a:defRPr sz="1800">
                <a:latin typeface="Open Sans"/>
                <a:cs typeface="Open Sans"/>
              </a:defRPr>
            </a:lvl3pPr>
            <a:lvl4pPr>
              <a:spcBef>
                <a:spcPts val="600"/>
              </a:spcBef>
              <a:defRPr sz="1600">
                <a:latin typeface="Open Sans"/>
                <a:cs typeface="Open Sans"/>
              </a:defRPr>
            </a:lvl4pPr>
            <a:lvl5pPr>
              <a:spcBef>
                <a:spcPts val="600"/>
              </a:spcBef>
              <a:defRPr sz="1400">
                <a:latin typeface="Open Sans"/>
                <a:cs typeface="Open San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00800"/>
            <a:ext cx="2895600" cy="3048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7C8759-6E64-4B78-9FBD-402D34F9A73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8575"/>
            <a:ext cx="9144000" cy="762000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1E8288-8881-4A5C-A5CF-24A4A0751E9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8CD5A6-27ED-4E03-A887-CFC4588B477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628320-65A7-4C11-844B-DC25C424549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AF622B-0EBA-442E-9880-B3AA0160C86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D8F248-DBDD-497F-8322-EC328B749B1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6C313C-F29C-49AF-987F-6E80EC09B8A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F45C92-6325-4CE7-B6E0-EB831852ABF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4749EB-51D1-4AC5-B20A-3D2DB732E83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768C6B-BF8E-438D-B6E8-32AF65064B6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9A7055-CAFE-4895-93BE-18EB92370F9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BE495-B92A-49E9-88F0-E685ACDE11D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9812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5800" y="41148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049AC5-3BFE-4FDC-897C-99E5FB6D234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40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40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40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fld id="{04B04B66-30FD-4138-8B85-AA5CDD369C5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pic>
        <p:nvPicPr>
          <p:cNvPr id="8" name="Picture 61" descr="Cellecta_vert_C72M0Y100K0"/>
          <p:cNvPicPr>
            <a:picLocks noChangeAspect="1" noChangeArrowheads="1"/>
          </p:cNvPicPr>
          <p:nvPr userDrawn="1"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8153400" y="5979074"/>
            <a:ext cx="886279" cy="748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1" r:id="rId2"/>
    <p:sldLayoutId id="2147483660" r:id="rId3"/>
    <p:sldLayoutId id="2147483659" r:id="rId4"/>
    <p:sldLayoutId id="2147483658" r:id="rId5"/>
    <p:sldLayoutId id="2147483657" r:id="rId6"/>
    <p:sldLayoutId id="2147483656" r:id="rId7"/>
    <p:sldLayoutId id="2147483655" r:id="rId8"/>
    <p:sldLayoutId id="2147483654" r:id="rId9"/>
    <p:sldLayoutId id="2147483653" r:id="rId10"/>
    <p:sldLayoutId id="2147483652" r:id="rId11"/>
    <p:sldLayoutId id="2147483651" r:id="rId12"/>
    <p:sldLayoutId id="2147483650" r:id="rId13"/>
    <p:sldLayoutId id="2147483649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Open Sans"/>
          <a:ea typeface="+mj-ea"/>
          <a:cs typeface="Open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Open Sans"/>
          <a:ea typeface="+mn-ea"/>
          <a:cs typeface="Open San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Open Sans"/>
          <a:cs typeface="Open San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Open Sans"/>
          <a:cs typeface="Open San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Open Sans"/>
          <a:cs typeface="Open San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Open Sans"/>
          <a:cs typeface="Open San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C627EA-7FE6-4CA2-9564-4B539F76D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46421"/>
            <a:ext cx="6255431" cy="6811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461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Oval 77"/>
          <p:cNvSpPr/>
          <p:nvPr/>
        </p:nvSpPr>
        <p:spPr>
          <a:xfrm>
            <a:off x="3500925" y="2142798"/>
            <a:ext cx="3391781" cy="2774451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/>
          <p:cNvSpPr/>
          <p:nvPr/>
        </p:nvSpPr>
        <p:spPr>
          <a:xfrm>
            <a:off x="3339900" y="4292025"/>
            <a:ext cx="1289250" cy="1135591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62000" y="5054025"/>
            <a:ext cx="7696200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cxnSpLocks/>
          </p:cNvCxnSpPr>
          <p:nvPr/>
        </p:nvCxnSpPr>
        <p:spPr>
          <a:xfrm>
            <a:off x="762000" y="4896862"/>
            <a:ext cx="2471737" cy="1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362200" y="5054025"/>
            <a:ext cx="1295400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3276600" y="4749227"/>
            <a:ext cx="1333500" cy="3352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4648200" y="4901625"/>
            <a:ext cx="3810000" cy="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 flipV="1">
            <a:off x="3212784" y="4741816"/>
            <a:ext cx="92673" cy="175434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276600" y="4896862"/>
            <a:ext cx="1333500" cy="4763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615649" y="4673025"/>
            <a:ext cx="870751" cy="369332"/>
          </a:xfrm>
          <a:prstGeom prst="rect">
            <a:avLst/>
          </a:prstGeom>
          <a:noFill/>
          <a:ln w="57150"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800" b="1" cap="none" spc="30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solidFill>
                  <a:schemeClr val="tx2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NGG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620A2F0-53C5-41CE-95B0-FAAE2DBBEAAD}"/>
              </a:ext>
            </a:extLst>
          </p:cNvPr>
          <p:cNvGrpSpPr/>
          <p:nvPr/>
        </p:nvGrpSpPr>
        <p:grpSpPr>
          <a:xfrm>
            <a:off x="4094345" y="3744381"/>
            <a:ext cx="1274301" cy="1157246"/>
            <a:chOff x="4094345" y="3186156"/>
            <a:chExt cx="1274301" cy="1157246"/>
          </a:xfrm>
        </p:grpSpPr>
        <p:cxnSp>
          <p:nvCxnSpPr>
            <p:cNvPr id="17" name="Straight Connector 16"/>
            <p:cNvCxnSpPr>
              <a:cxnSpLocks/>
            </p:cNvCxnSpPr>
            <p:nvPr/>
          </p:nvCxnSpPr>
          <p:spPr>
            <a:xfrm flipH="1" flipV="1">
              <a:off x="4591529" y="4169698"/>
              <a:ext cx="56671" cy="173704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flipV="1">
              <a:off x="4616313" y="4191000"/>
              <a:ext cx="76200" cy="152400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4235313" y="3733800"/>
              <a:ext cx="457200" cy="457200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Arc 32"/>
            <p:cNvSpPr/>
            <p:nvPr/>
          </p:nvSpPr>
          <p:spPr>
            <a:xfrm rot="19497745">
              <a:off x="4094345" y="3505199"/>
              <a:ext cx="266700" cy="228600"/>
            </a:xfrm>
            <a:prstGeom prst="arc">
              <a:avLst>
                <a:gd name="adj1" fmla="val 6943231"/>
                <a:gd name="adj2" fmla="val 4165451"/>
              </a:avLst>
            </a:prstGeom>
            <a:noFill/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1" name="Group 40"/>
            <p:cNvGrpSpPr/>
            <p:nvPr/>
          </p:nvGrpSpPr>
          <p:grpSpPr>
            <a:xfrm rot="409283">
              <a:off x="4309506" y="3701763"/>
              <a:ext cx="430492" cy="363752"/>
              <a:chOff x="4655104" y="3446248"/>
              <a:chExt cx="430492" cy="363752"/>
            </a:xfrm>
            <a:noFill/>
          </p:grpSpPr>
          <p:sp>
            <p:nvSpPr>
              <p:cNvPr id="34" name="Arc 33"/>
              <p:cNvSpPr/>
              <p:nvPr/>
            </p:nvSpPr>
            <p:spPr>
              <a:xfrm rot="4427508">
                <a:off x="4794832" y="3547138"/>
                <a:ext cx="100750" cy="78681"/>
              </a:xfrm>
              <a:prstGeom prst="arc">
                <a:avLst>
                  <a:gd name="adj1" fmla="val 6994047"/>
                  <a:gd name="adj2" fmla="val 0"/>
                </a:avLst>
              </a:prstGeom>
              <a:grpFill/>
              <a:ln w="381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6" name="Straight Connector 35"/>
              <p:cNvCxnSpPr>
                <a:stCxn id="33" idx="2"/>
              </p:cNvCxnSpPr>
              <p:nvPr/>
            </p:nvCxnSpPr>
            <p:spPr>
              <a:xfrm rot="21190717">
                <a:off x="4655104" y="3446248"/>
                <a:ext cx="137440" cy="143824"/>
              </a:xfrm>
              <a:prstGeom prst="line">
                <a:avLst/>
              </a:prstGeom>
              <a:grpFill/>
              <a:ln w="381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>
                <a:cxnSpLocks/>
                <a:stCxn id="34" idx="2"/>
              </p:cNvCxnSpPr>
              <p:nvPr/>
            </p:nvCxnSpPr>
            <p:spPr>
              <a:xfrm>
                <a:off x="4859268" y="3634851"/>
                <a:ext cx="226328" cy="175149"/>
              </a:xfrm>
              <a:prstGeom prst="line">
                <a:avLst/>
              </a:prstGeom>
              <a:grpFill/>
              <a:ln w="381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Arc 42"/>
            <p:cNvSpPr/>
            <p:nvPr/>
          </p:nvSpPr>
          <p:spPr>
            <a:xfrm rot="17845046" flipV="1">
              <a:off x="4663474" y="3967704"/>
              <a:ext cx="193138" cy="49805"/>
            </a:xfrm>
            <a:prstGeom prst="arc">
              <a:avLst>
                <a:gd name="adj1" fmla="val 10647955"/>
                <a:gd name="adj2" fmla="val 20964074"/>
              </a:avLst>
            </a:prstGeom>
            <a:noFill/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0" name="Group 49"/>
            <p:cNvGrpSpPr/>
            <p:nvPr/>
          </p:nvGrpSpPr>
          <p:grpSpPr>
            <a:xfrm rot="20022555">
              <a:off x="4685235" y="3682755"/>
              <a:ext cx="206648" cy="249338"/>
              <a:chOff x="5114548" y="3560662"/>
              <a:chExt cx="206648" cy="249338"/>
            </a:xfrm>
            <a:noFill/>
          </p:grpSpPr>
          <p:sp>
            <p:nvSpPr>
              <p:cNvPr id="44" name="Arc 43"/>
              <p:cNvSpPr/>
              <p:nvPr/>
            </p:nvSpPr>
            <p:spPr>
              <a:xfrm rot="280886">
                <a:off x="5114548" y="3560662"/>
                <a:ext cx="206648" cy="153163"/>
              </a:xfrm>
              <a:prstGeom prst="arc">
                <a:avLst>
                  <a:gd name="adj1" fmla="val 6943231"/>
                  <a:gd name="adj2" fmla="val 3585827"/>
                </a:avLst>
              </a:prstGeom>
              <a:grpFill/>
              <a:ln w="381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6" name="Straight Connector 45"/>
              <p:cNvCxnSpPr/>
              <p:nvPr/>
            </p:nvCxnSpPr>
            <p:spPr>
              <a:xfrm>
                <a:off x="5181600" y="3698213"/>
                <a:ext cx="0" cy="108578"/>
              </a:xfrm>
              <a:prstGeom prst="line">
                <a:avLst/>
              </a:prstGeom>
              <a:grpFill/>
              <a:ln w="381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>
              <a:xfrm>
                <a:off x="5257800" y="3695004"/>
                <a:ext cx="0" cy="114996"/>
              </a:xfrm>
              <a:prstGeom prst="line">
                <a:avLst/>
              </a:prstGeom>
              <a:grpFill/>
              <a:ln w="381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" name="Arc 50"/>
            <p:cNvSpPr/>
            <p:nvPr/>
          </p:nvSpPr>
          <p:spPr>
            <a:xfrm rot="18267597" flipV="1">
              <a:off x="4820365" y="3675414"/>
              <a:ext cx="302615" cy="204059"/>
            </a:xfrm>
            <a:prstGeom prst="arc">
              <a:avLst>
                <a:gd name="adj1" fmla="val 10647955"/>
                <a:gd name="adj2" fmla="val 20964074"/>
              </a:avLst>
            </a:prstGeom>
            <a:noFill/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7" name="Group 56"/>
            <p:cNvGrpSpPr/>
            <p:nvPr/>
          </p:nvGrpSpPr>
          <p:grpSpPr>
            <a:xfrm rot="18267597">
              <a:off x="4869436" y="3387943"/>
              <a:ext cx="206648" cy="343128"/>
              <a:chOff x="5410200" y="3512575"/>
              <a:chExt cx="206648" cy="343128"/>
            </a:xfrm>
            <a:noFill/>
          </p:grpSpPr>
          <p:sp>
            <p:nvSpPr>
              <p:cNvPr id="53" name="Arc 52"/>
              <p:cNvSpPr/>
              <p:nvPr/>
            </p:nvSpPr>
            <p:spPr>
              <a:xfrm rot="280886">
                <a:off x="5410200" y="3512575"/>
                <a:ext cx="206648" cy="153163"/>
              </a:xfrm>
              <a:prstGeom prst="arc">
                <a:avLst>
                  <a:gd name="adj1" fmla="val 6943231"/>
                  <a:gd name="adj2" fmla="val 3585827"/>
                </a:avLst>
              </a:prstGeom>
              <a:grpFill/>
              <a:ln w="381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6" name="Group 55"/>
              <p:cNvGrpSpPr/>
              <p:nvPr/>
            </p:nvGrpSpPr>
            <p:grpSpPr>
              <a:xfrm>
                <a:off x="5477252" y="3646916"/>
                <a:ext cx="76200" cy="208787"/>
                <a:chOff x="5477252" y="3646917"/>
                <a:chExt cx="76200" cy="114996"/>
              </a:xfrm>
              <a:grpFill/>
            </p:grpSpPr>
            <p:cxnSp>
              <p:nvCxnSpPr>
                <p:cNvPr id="54" name="Straight Connector 53"/>
                <p:cNvCxnSpPr/>
                <p:nvPr/>
              </p:nvCxnSpPr>
              <p:spPr>
                <a:xfrm>
                  <a:off x="5477252" y="3650126"/>
                  <a:ext cx="0" cy="108578"/>
                </a:xfrm>
                <a:prstGeom prst="line">
                  <a:avLst/>
                </a:prstGeom>
                <a:grpFill/>
                <a:ln w="381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>
                <a:xfrm>
                  <a:off x="5553452" y="3646917"/>
                  <a:ext cx="0" cy="114996"/>
                </a:xfrm>
                <a:prstGeom prst="line">
                  <a:avLst/>
                </a:prstGeom>
                <a:grpFill/>
                <a:ln w="381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8" name="Arc 57"/>
            <p:cNvSpPr/>
            <p:nvPr/>
          </p:nvSpPr>
          <p:spPr>
            <a:xfrm rot="18094779" flipV="1">
              <a:off x="5087086" y="3452087"/>
              <a:ext cx="219461" cy="143719"/>
            </a:xfrm>
            <a:prstGeom prst="arc">
              <a:avLst>
                <a:gd name="adj1" fmla="val 10601845"/>
                <a:gd name="adj2" fmla="val 91317"/>
              </a:avLst>
            </a:prstGeom>
            <a:noFill/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Arc 59"/>
            <p:cNvSpPr/>
            <p:nvPr/>
          </p:nvSpPr>
          <p:spPr>
            <a:xfrm rot="16810555">
              <a:off x="4521143" y="3212898"/>
              <a:ext cx="206648" cy="153163"/>
            </a:xfrm>
            <a:prstGeom prst="arc">
              <a:avLst>
                <a:gd name="adj1" fmla="val 6943231"/>
                <a:gd name="adj2" fmla="val 3585827"/>
              </a:avLst>
            </a:prstGeom>
            <a:noFill/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Straight Connector 61"/>
            <p:cNvCxnSpPr/>
            <p:nvPr/>
          </p:nvCxnSpPr>
          <p:spPr>
            <a:xfrm rot="16720090">
              <a:off x="4964660" y="3090315"/>
              <a:ext cx="0" cy="580496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rot="16720090">
              <a:off x="5011656" y="3003935"/>
              <a:ext cx="0" cy="614809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Arc 63"/>
            <p:cNvSpPr/>
            <p:nvPr/>
          </p:nvSpPr>
          <p:spPr>
            <a:xfrm rot="15284752" flipV="1">
              <a:off x="5215007" y="3209957"/>
              <a:ext cx="157246" cy="150032"/>
            </a:xfrm>
            <a:prstGeom prst="arc">
              <a:avLst>
                <a:gd name="adj1" fmla="val 10601845"/>
                <a:gd name="adj2" fmla="val 20964074"/>
              </a:avLst>
            </a:prstGeom>
            <a:noFill/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7" name="Rectangle 86"/>
          <p:cNvSpPr/>
          <p:nvPr/>
        </p:nvSpPr>
        <p:spPr>
          <a:xfrm>
            <a:off x="2133600" y="1997095"/>
            <a:ext cx="1941557" cy="9233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b="1" cap="none" spc="50" dirty="0">
                <a:ln w="11430">
                  <a:noFill/>
                </a:ln>
                <a:solidFill>
                  <a:srgbClr val="FFC000"/>
                </a:solidFill>
              </a:rPr>
              <a:t>CAS9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400301" y="5739825"/>
            <a:ext cx="2856680" cy="584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3200" b="1" cap="none" spc="50" dirty="0">
                <a:ln w="11430">
                  <a:noFill/>
                </a:ln>
                <a:solidFill>
                  <a:schemeClr val="tx1"/>
                </a:solidFill>
              </a:rPr>
              <a:t>DNA substrate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105400" y="3066295"/>
            <a:ext cx="1784463" cy="707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4000" b="1" spc="50" dirty="0" err="1">
                <a:ln w="11430">
                  <a:noFill/>
                </a:ln>
                <a:solidFill>
                  <a:schemeClr val="accent2"/>
                </a:solidFill>
              </a:rPr>
              <a:t>sgRNA</a:t>
            </a:r>
            <a:endParaRPr lang="en-US" sz="4000" b="1" cap="none" spc="50" dirty="0">
              <a:ln w="11430">
                <a:noFill/>
              </a:ln>
              <a:solidFill>
                <a:schemeClr val="accent2"/>
              </a:solidFill>
            </a:endParaRPr>
          </a:p>
        </p:txBody>
      </p:sp>
      <p:sp>
        <p:nvSpPr>
          <p:cNvPr id="3" name="Lightning Bolt 2">
            <a:extLst>
              <a:ext uri="{FF2B5EF4-FFF2-40B4-BE49-F238E27FC236}">
                <a16:creationId xmlns:a16="http://schemas.microsoft.com/office/drawing/2014/main" id="{EF1844AD-91F2-457A-9A0D-55F05C6E3A76}"/>
              </a:ext>
            </a:extLst>
          </p:cNvPr>
          <p:cNvSpPr/>
          <p:nvPr/>
        </p:nvSpPr>
        <p:spPr bwMode="auto">
          <a:xfrm>
            <a:off x="2971800" y="1929825"/>
            <a:ext cx="914400" cy="914400"/>
          </a:xfrm>
          <a:prstGeom prst="lightningBolt">
            <a:avLst/>
          </a:prstGeom>
          <a:noFill/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57200" marR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762000" algn="l"/>
              </a:tabLst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3" name="Lightning Bolt 12">
            <a:extLst>
              <a:ext uri="{FF2B5EF4-FFF2-40B4-BE49-F238E27FC236}">
                <a16:creationId xmlns:a16="http://schemas.microsoft.com/office/drawing/2014/main" id="{20BA8813-E87F-4F4B-9B82-3A4DE28D4474}"/>
              </a:ext>
            </a:extLst>
          </p:cNvPr>
          <p:cNvSpPr/>
          <p:nvPr/>
        </p:nvSpPr>
        <p:spPr bwMode="auto">
          <a:xfrm>
            <a:off x="4116598" y="4292025"/>
            <a:ext cx="390296" cy="1273174"/>
          </a:xfrm>
          <a:prstGeom prst="lightningBolt">
            <a:avLst/>
          </a:prstGeom>
          <a:solidFill>
            <a:srgbClr val="FF0000"/>
          </a:solidFill>
          <a:ln w="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57200" marR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762000" algn="l"/>
              </a:tabLst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255D57-DC58-45AD-9565-AE53EACC6BC3}"/>
              </a:ext>
            </a:extLst>
          </p:cNvPr>
          <p:cNvSpPr txBox="1"/>
          <p:nvPr/>
        </p:nvSpPr>
        <p:spPr>
          <a:xfrm>
            <a:off x="2438400" y="4153180"/>
            <a:ext cx="8050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D10A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BEEE08D-7238-41DB-BA3A-C922795A1912}"/>
              </a:ext>
            </a:extLst>
          </p:cNvPr>
          <p:cNvGrpSpPr/>
          <p:nvPr/>
        </p:nvGrpSpPr>
        <p:grpSpPr>
          <a:xfrm>
            <a:off x="3233738" y="4396530"/>
            <a:ext cx="850700" cy="263547"/>
            <a:chOff x="1143000" y="2971800"/>
            <a:chExt cx="442215" cy="27713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7884493-DA0A-4699-BC8C-BAAC25F60D6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143000" y="2971800"/>
              <a:ext cx="381000" cy="217583"/>
            </a:xfrm>
            <a:prstGeom prst="line">
              <a:avLst/>
            </a:prstGeom>
            <a:noFill/>
            <a:ln w="28575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D9ADC90-BEDF-4FD0-AAFD-0946BD7ED37E}"/>
                </a:ext>
              </a:extLst>
            </p:cNvPr>
            <p:cNvSpPr/>
            <p:nvPr/>
          </p:nvSpPr>
          <p:spPr bwMode="auto">
            <a:xfrm>
              <a:off x="1500390" y="3153166"/>
              <a:ext cx="84825" cy="95770"/>
            </a:xfrm>
            <a:prstGeom prst="ellipse">
              <a:avLst/>
            </a:prstGeom>
            <a:solidFill>
              <a:srgbClr val="7030A0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457200" marR="0" indent="-4572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>
                  <a:tab pos="762000" algn="l"/>
                </a:tabLst>
              </a:pPr>
              <a:endParaRPr kumimoji="0" 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1E8CF899-F402-4269-892D-C18C0732442D}"/>
              </a:ext>
            </a:extLst>
          </p:cNvPr>
          <p:cNvSpPr txBox="1"/>
          <p:nvPr/>
        </p:nvSpPr>
        <p:spPr>
          <a:xfrm>
            <a:off x="2286001" y="5362844"/>
            <a:ext cx="9733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H841A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7265514-FFF5-400A-BEDD-7B783058B05A}"/>
              </a:ext>
            </a:extLst>
          </p:cNvPr>
          <p:cNvGrpSpPr/>
          <p:nvPr/>
        </p:nvGrpSpPr>
        <p:grpSpPr>
          <a:xfrm flipV="1">
            <a:off x="3200400" y="5138382"/>
            <a:ext cx="866941" cy="337887"/>
            <a:chOff x="1143000" y="2971800"/>
            <a:chExt cx="442215" cy="277136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30AA6F4-C0BA-46C6-B5CA-26D5378C12E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143000" y="2971800"/>
              <a:ext cx="381000" cy="217583"/>
            </a:xfrm>
            <a:prstGeom prst="line">
              <a:avLst/>
            </a:prstGeom>
            <a:noFill/>
            <a:ln w="28575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B94DA7E0-74F6-4C9C-B678-5441F050A199}"/>
                </a:ext>
              </a:extLst>
            </p:cNvPr>
            <p:cNvSpPr/>
            <p:nvPr/>
          </p:nvSpPr>
          <p:spPr bwMode="auto">
            <a:xfrm>
              <a:off x="1500390" y="3153166"/>
              <a:ext cx="84825" cy="95770"/>
            </a:xfrm>
            <a:prstGeom prst="ellipse">
              <a:avLst/>
            </a:prstGeom>
            <a:solidFill>
              <a:srgbClr val="7030A0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457200" marR="0" indent="-4572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>
                  <a:tab pos="762000" algn="l"/>
                </a:tabLst>
              </a:pPr>
              <a:endParaRPr kumimoji="0" 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C9A8C164-E4D0-422B-A207-48BD0C9193B9}"/>
              </a:ext>
            </a:extLst>
          </p:cNvPr>
          <p:cNvSpPr/>
          <p:nvPr/>
        </p:nvSpPr>
        <p:spPr>
          <a:xfrm>
            <a:off x="1786401" y="1997095"/>
            <a:ext cx="575799" cy="9233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b="1" cap="none" spc="50" dirty="0">
                <a:ln w="11430">
                  <a:noFill/>
                </a:ln>
                <a:solidFill>
                  <a:srgbClr val="FFC000"/>
                </a:solidFill>
              </a:rPr>
              <a:t>d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1C3B0D1-B951-4A26-8920-9595A830505B}"/>
              </a:ext>
            </a:extLst>
          </p:cNvPr>
          <p:cNvSpPr/>
          <p:nvPr/>
        </p:nvSpPr>
        <p:spPr bwMode="auto">
          <a:xfrm>
            <a:off x="5791200" y="1591878"/>
            <a:ext cx="1905000" cy="1347597"/>
          </a:xfrm>
          <a:prstGeom prst="ellipse">
            <a:avLst/>
          </a:prstGeom>
          <a:solidFill>
            <a:srgbClr val="E38D00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57200" marR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762000" algn="l"/>
              </a:tabLst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4D88BF7-803C-40FB-A4C2-D917A1E1E1D7}"/>
              </a:ext>
            </a:extLst>
          </p:cNvPr>
          <p:cNvSpPr/>
          <p:nvPr/>
        </p:nvSpPr>
        <p:spPr>
          <a:xfrm>
            <a:off x="6189766" y="1804011"/>
            <a:ext cx="1107868" cy="9233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b="1" spc="50" dirty="0">
                <a:ln w="11430">
                  <a:noFill/>
                </a:ln>
                <a:solidFill>
                  <a:srgbClr val="FF0000"/>
                </a:solidFill>
              </a:rPr>
              <a:t>TA</a:t>
            </a:r>
            <a:endParaRPr lang="en-US" sz="5400" b="1" cap="none" spc="50" dirty="0">
              <a:ln w="11430">
                <a:noFill/>
              </a:ln>
              <a:solidFill>
                <a:srgbClr val="FF0000"/>
              </a:solidFill>
            </a:endParaRPr>
          </a:p>
        </p:txBody>
      </p:sp>
      <p:sp>
        <p:nvSpPr>
          <p:cNvPr id="68" name="Rectangle 2">
            <a:extLst>
              <a:ext uri="{FF2B5EF4-FFF2-40B4-BE49-F238E27FC236}">
                <a16:creationId xmlns:a16="http://schemas.microsoft.com/office/drawing/2014/main" id="{28239976-3EED-4F8D-AEBE-4F6DB2BD5E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Open Sans"/>
                <a:ea typeface="+mj-ea"/>
                <a:cs typeface="Open San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3200" b="1" kern="0" dirty="0">
                <a:solidFill>
                  <a:srgbClr val="339900"/>
                </a:solidFill>
                <a:ea typeface="宋体" pitchFamily="2" charset="-122"/>
              </a:rPr>
              <a:t>CRISPR-KO vs </a:t>
            </a:r>
            <a:r>
              <a:rPr lang="en-US" altLang="zh-CN" sz="3200" b="1" kern="0" dirty="0" err="1">
                <a:solidFill>
                  <a:srgbClr val="339900"/>
                </a:solidFill>
                <a:ea typeface="宋体" pitchFamily="2" charset="-122"/>
              </a:rPr>
              <a:t>CRISPRa</a:t>
            </a:r>
            <a:r>
              <a:rPr lang="en-US" altLang="zh-CN" sz="3200" b="1" kern="0" dirty="0">
                <a:solidFill>
                  <a:srgbClr val="339900"/>
                </a:solidFill>
                <a:ea typeface="宋体" pitchFamily="2" charset="-122"/>
              </a:rPr>
              <a:t>/</a:t>
            </a:r>
            <a:r>
              <a:rPr lang="en-US" altLang="zh-CN" sz="3200" b="1" kern="0" dirty="0" err="1">
                <a:solidFill>
                  <a:srgbClr val="339900"/>
                </a:solidFill>
                <a:ea typeface="宋体" pitchFamily="2" charset="-122"/>
              </a:rPr>
              <a:t>i</a:t>
            </a:r>
            <a:endParaRPr lang="en-US" altLang="zh-CN" b="1" kern="0" dirty="0">
              <a:solidFill>
                <a:srgbClr val="339900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35023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2" grpId="0"/>
      <p:bldP spid="48" grpId="0"/>
      <p:bldP spid="61" grpId="0"/>
      <p:bldP spid="66" grpId="0" animBg="1"/>
      <p:bldP spid="6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rrow: Down 20">
            <a:extLst>
              <a:ext uri="{FF2B5EF4-FFF2-40B4-BE49-F238E27FC236}">
                <a16:creationId xmlns:a16="http://schemas.microsoft.com/office/drawing/2014/main" id="{8C60300A-CCBC-4C06-AE07-E0F29C47CE29}"/>
              </a:ext>
            </a:extLst>
          </p:cNvPr>
          <p:cNvSpPr/>
          <p:nvPr/>
        </p:nvSpPr>
        <p:spPr bwMode="auto">
          <a:xfrm rot="16200000">
            <a:off x="5007404" y="3916955"/>
            <a:ext cx="304800" cy="2182449"/>
          </a:xfrm>
          <a:prstGeom prst="downArrow">
            <a:avLst/>
          </a:prstGeom>
          <a:solidFill>
            <a:schemeClr val="bg2">
              <a:lumMod val="60000"/>
              <a:lumOff val="40000"/>
            </a:schemeClr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57200" marR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762000" algn="l"/>
              </a:tabLst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89C36C-C5EC-4866-BE74-2DCCF747C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43" y="4114800"/>
            <a:ext cx="2812857" cy="1524000"/>
          </a:xfrm>
          <a:prstGeom prst="rect">
            <a:avLst/>
          </a:prstGeom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42268F26-9E37-4500-9364-3F7F2F8915E8}"/>
              </a:ext>
            </a:extLst>
          </p:cNvPr>
          <p:cNvSpPr/>
          <p:nvPr/>
        </p:nvSpPr>
        <p:spPr bwMode="auto">
          <a:xfrm>
            <a:off x="304800" y="5257800"/>
            <a:ext cx="4572000" cy="152400"/>
          </a:xfrm>
          <a:prstGeom prst="rightArrow">
            <a:avLst/>
          </a:prstGeom>
          <a:solidFill>
            <a:schemeClr val="tx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57200" marR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762000" algn="l"/>
              </a:tabLst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95C626-F0AF-4CE5-B90A-15A6FF00E34E}"/>
              </a:ext>
            </a:extLst>
          </p:cNvPr>
          <p:cNvSpPr txBox="1"/>
          <p:nvPr/>
        </p:nvSpPr>
        <p:spPr>
          <a:xfrm>
            <a:off x="1676400" y="5505898"/>
            <a:ext cx="1261884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promoter</a:t>
            </a:r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54C790AC-3E2E-4E60-B79F-F3FAF68D5C83}"/>
              </a:ext>
            </a:extLst>
          </p:cNvPr>
          <p:cNvSpPr/>
          <p:nvPr/>
        </p:nvSpPr>
        <p:spPr bwMode="auto">
          <a:xfrm>
            <a:off x="4876800" y="5257800"/>
            <a:ext cx="3886200" cy="152400"/>
          </a:xfrm>
          <a:prstGeom prst="rightArrow">
            <a:avLst/>
          </a:prstGeom>
          <a:solidFill>
            <a:srgbClr val="0070C0"/>
          </a:solidFill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57200" marR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762000" algn="l"/>
              </a:tabLst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F2E19B4-2987-4013-9839-28C15F8C2FB2}"/>
              </a:ext>
            </a:extLst>
          </p:cNvPr>
          <p:cNvSpPr txBox="1"/>
          <p:nvPr/>
        </p:nvSpPr>
        <p:spPr>
          <a:xfrm>
            <a:off x="6248400" y="5505898"/>
            <a:ext cx="997389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Gene X</a:t>
            </a:r>
          </a:p>
        </p:txBody>
      </p:sp>
      <p:sp>
        <p:nvSpPr>
          <p:cNvPr id="6" name="Arrow: Bent 5">
            <a:extLst>
              <a:ext uri="{FF2B5EF4-FFF2-40B4-BE49-F238E27FC236}">
                <a16:creationId xmlns:a16="http://schemas.microsoft.com/office/drawing/2014/main" id="{3564EC10-484A-465B-8E29-C3AE5F573923}"/>
              </a:ext>
            </a:extLst>
          </p:cNvPr>
          <p:cNvSpPr/>
          <p:nvPr/>
        </p:nvSpPr>
        <p:spPr bwMode="auto">
          <a:xfrm rot="5400000">
            <a:off x="3321051" y="4319227"/>
            <a:ext cx="762001" cy="546098"/>
          </a:xfrm>
          <a:prstGeom prst="bentArrow">
            <a:avLst/>
          </a:prstGeom>
          <a:solidFill>
            <a:srgbClr val="FF0000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57200" marR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762000" algn="l"/>
              </a:tabLst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962E9EDA-813C-467F-A93E-00850C814D76}"/>
              </a:ext>
            </a:extLst>
          </p:cNvPr>
          <p:cNvSpPr/>
          <p:nvPr/>
        </p:nvSpPr>
        <p:spPr bwMode="auto">
          <a:xfrm rot="16200000">
            <a:off x="5004775" y="3918477"/>
            <a:ext cx="304800" cy="2182449"/>
          </a:xfrm>
          <a:prstGeom prst="downArrow">
            <a:avLst/>
          </a:prstGeom>
          <a:solidFill>
            <a:srgbClr val="FF0000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57200" marR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762000" algn="l"/>
              </a:tabLst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55" name="Rectangle 2">
            <a:extLst>
              <a:ext uri="{FF2B5EF4-FFF2-40B4-BE49-F238E27FC236}">
                <a16:creationId xmlns:a16="http://schemas.microsoft.com/office/drawing/2014/main" id="{635A2FE7-2A58-482F-9E76-AFBF01702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8223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Open Sans"/>
                <a:ea typeface="+mj-ea"/>
                <a:cs typeface="Open San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3200" b="1" kern="0" dirty="0" err="1">
                <a:solidFill>
                  <a:srgbClr val="339900"/>
                </a:solidFill>
                <a:ea typeface="宋体" pitchFamily="2" charset="-122"/>
              </a:rPr>
              <a:t>CRISPRi</a:t>
            </a:r>
            <a:r>
              <a:rPr lang="en-US" altLang="zh-CN" sz="3200" b="1" kern="0" dirty="0">
                <a:solidFill>
                  <a:srgbClr val="339900"/>
                </a:solidFill>
                <a:ea typeface="宋体" pitchFamily="2" charset="-122"/>
              </a:rPr>
              <a:t> and </a:t>
            </a:r>
            <a:r>
              <a:rPr lang="en-US" altLang="zh-CN" sz="3200" b="1" kern="0" dirty="0" err="1">
                <a:solidFill>
                  <a:srgbClr val="339900"/>
                </a:solidFill>
                <a:ea typeface="宋体" pitchFamily="2" charset="-122"/>
              </a:rPr>
              <a:t>CRISPRa</a:t>
            </a:r>
            <a:r>
              <a:rPr lang="en-US" altLang="zh-CN" sz="3200" b="1" kern="0" dirty="0">
                <a:solidFill>
                  <a:srgbClr val="339900"/>
                </a:solidFill>
                <a:ea typeface="宋体" pitchFamily="2" charset="-122"/>
              </a:rPr>
              <a:t> Variations</a:t>
            </a:r>
            <a:endParaRPr lang="en-US" altLang="zh-CN" b="1" kern="0" dirty="0">
              <a:solidFill>
                <a:srgbClr val="339900"/>
              </a:solidFill>
              <a:ea typeface="宋体" pitchFamily="2" charset="-122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7AF7A0C-5546-4258-9D71-61B61711D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43" y="1521372"/>
            <a:ext cx="2812857" cy="1524000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36D5D3A5-8A4D-4663-8105-01F807D03607}"/>
              </a:ext>
            </a:extLst>
          </p:cNvPr>
          <p:cNvSpPr/>
          <p:nvPr/>
        </p:nvSpPr>
        <p:spPr bwMode="auto">
          <a:xfrm>
            <a:off x="304800" y="2664372"/>
            <a:ext cx="4572000" cy="152400"/>
          </a:xfrm>
          <a:prstGeom prst="rightArrow">
            <a:avLst/>
          </a:prstGeom>
          <a:solidFill>
            <a:schemeClr val="tx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57200" marR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762000" algn="l"/>
              </a:tabLst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989BB5-051A-493D-94B0-CE8FD6DFC0FF}"/>
              </a:ext>
            </a:extLst>
          </p:cNvPr>
          <p:cNvSpPr txBox="1"/>
          <p:nvPr/>
        </p:nvSpPr>
        <p:spPr>
          <a:xfrm>
            <a:off x="1676400" y="2912470"/>
            <a:ext cx="1261884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promoter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7877F36-7AAE-4A9E-9411-927B12C195C4}"/>
              </a:ext>
            </a:extLst>
          </p:cNvPr>
          <p:cNvSpPr/>
          <p:nvPr/>
        </p:nvSpPr>
        <p:spPr bwMode="auto">
          <a:xfrm>
            <a:off x="4876800" y="2664372"/>
            <a:ext cx="3886200" cy="152400"/>
          </a:xfrm>
          <a:prstGeom prst="rightArrow">
            <a:avLst/>
          </a:prstGeom>
          <a:solidFill>
            <a:srgbClr val="0070C0"/>
          </a:solidFill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57200" marR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762000" algn="l"/>
              </a:tabLst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A47B98-22E1-4799-986D-F2D0D2D3808E}"/>
              </a:ext>
            </a:extLst>
          </p:cNvPr>
          <p:cNvSpPr txBox="1"/>
          <p:nvPr/>
        </p:nvSpPr>
        <p:spPr>
          <a:xfrm>
            <a:off x="6248400" y="2912470"/>
            <a:ext cx="997389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Gene X</a:t>
            </a:r>
          </a:p>
        </p:txBody>
      </p:sp>
      <p:sp>
        <p:nvSpPr>
          <p:cNvPr id="15" name="Arrow: Bent 14">
            <a:extLst>
              <a:ext uri="{FF2B5EF4-FFF2-40B4-BE49-F238E27FC236}">
                <a16:creationId xmlns:a16="http://schemas.microsoft.com/office/drawing/2014/main" id="{0214D81B-7B8F-4D16-9544-3C04F59ED3D4}"/>
              </a:ext>
            </a:extLst>
          </p:cNvPr>
          <p:cNvSpPr/>
          <p:nvPr/>
        </p:nvSpPr>
        <p:spPr bwMode="auto">
          <a:xfrm rot="5400000">
            <a:off x="3321051" y="1725799"/>
            <a:ext cx="762001" cy="546098"/>
          </a:xfrm>
          <a:prstGeom prst="bentArrow">
            <a:avLst/>
          </a:prstGeom>
          <a:solidFill>
            <a:schemeClr val="bg2">
              <a:lumMod val="75000"/>
            </a:schemeClr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57200" marR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762000" algn="l"/>
              </a:tabLst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FB2C6C70-789A-4A67-B896-2FA2D44CB67B}"/>
              </a:ext>
            </a:extLst>
          </p:cNvPr>
          <p:cNvSpPr/>
          <p:nvPr/>
        </p:nvSpPr>
        <p:spPr bwMode="auto">
          <a:xfrm rot="16200000">
            <a:off x="5004775" y="1325049"/>
            <a:ext cx="304800" cy="2182449"/>
          </a:xfrm>
          <a:prstGeom prst="downArrow">
            <a:avLst/>
          </a:prstGeom>
          <a:solidFill>
            <a:schemeClr val="bg2">
              <a:lumMod val="60000"/>
              <a:lumOff val="40000"/>
            </a:schemeClr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57200" marR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762000" algn="l"/>
              </a:tabLst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34BF679-0C35-4E46-962D-118966C5A61B}"/>
              </a:ext>
            </a:extLst>
          </p:cNvPr>
          <p:cNvSpPr/>
          <p:nvPr/>
        </p:nvSpPr>
        <p:spPr bwMode="auto">
          <a:xfrm>
            <a:off x="2595384" y="1519701"/>
            <a:ext cx="757416" cy="537699"/>
          </a:xfrm>
          <a:prstGeom prst="ellipse">
            <a:avLst/>
          </a:prstGeom>
          <a:solidFill>
            <a:schemeClr val="bg2">
              <a:lumMod val="75000"/>
            </a:schemeClr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57200" marR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762000" algn="l"/>
              </a:tabLst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Verdana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70E53B-F5D5-4F54-9EB7-744C3328F880}"/>
              </a:ext>
            </a:extLst>
          </p:cNvPr>
          <p:cNvSpPr/>
          <p:nvPr/>
        </p:nvSpPr>
        <p:spPr>
          <a:xfrm>
            <a:off x="2491032" y="1589690"/>
            <a:ext cx="99060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1800" b="1" spc="50" dirty="0">
                <a:ln w="11430">
                  <a:noFill/>
                </a:ln>
                <a:solidFill>
                  <a:srgbClr val="92D050"/>
                </a:solidFill>
              </a:rPr>
              <a:t>KRAB</a:t>
            </a:r>
            <a:endParaRPr lang="en-US" sz="1800" b="1" cap="none" spc="50" dirty="0">
              <a:ln w="11430">
                <a:noFill/>
              </a:ln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6173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xit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vertical)">
                                      <p:cBhvr>
                                        <p:cTn id="10" dur="3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3FD0D4B7-63B1-4EDD-BC5C-778A840538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Open Sans"/>
                <a:ea typeface="+mj-ea"/>
                <a:cs typeface="Open San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b="1" dirty="0">
                <a:solidFill>
                  <a:srgbClr val="339900"/>
                </a:solidFill>
              </a:rPr>
              <a:t>Transcriptional activators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056EE5-83AA-40BF-BB38-6F78CDB91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1622975"/>
            <a:ext cx="2438400" cy="16536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ADFBA18-0539-42FE-B30E-D93DE64465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401" y="1623322"/>
            <a:ext cx="2514600" cy="1714383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1E7BA0D4-5136-43BC-89C7-23CE2CA86066}"/>
              </a:ext>
            </a:extLst>
          </p:cNvPr>
          <p:cNvGrpSpPr/>
          <p:nvPr/>
        </p:nvGrpSpPr>
        <p:grpSpPr>
          <a:xfrm>
            <a:off x="5632084" y="989918"/>
            <a:ext cx="3283316" cy="2362882"/>
            <a:chOff x="5632084" y="989918"/>
            <a:chExt cx="3283316" cy="236288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04C7493-83B9-4434-9FDB-5E837A83F6A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32084" y="989918"/>
              <a:ext cx="3283316" cy="2362882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C763729-F1F8-47D9-9EFF-D9428251B4DA}"/>
                </a:ext>
              </a:extLst>
            </p:cNvPr>
            <p:cNvSpPr txBox="1"/>
            <p:nvPr/>
          </p:nvSpPr>
          <p:spPr>
            <a:xfrm>
              <a:off x="7924800" y="2171359"/>
              <a:ext cx="96212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800" b="1" dirty="0">
                  <a:solidFill>
                    <a:srgbClr val="FF0000"/>
                  </a:solidFill>
                </a:rPr>
                <a:t>(VPR)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A9AF39E-2997-4CA9-898E-A83E5A8A4FCF}"/>
              </a:ext>
            </a:extLst>
          </p:cNvPr>
          <p:cNvGrpSpPr/>
          <p:nvPr/>
        </p:nvGrpSpPr>
        <p:grpSpPr>
          <a:xfrm>
            <a:off x="76200" y="4402502"/>
            <a:ext cx="4217048" cy="1664352"/>
            <a:chOff x="76200" y="4402502"/>
            <a:chExt cx="4217048" cy="166435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1345C18-7073-45C0-8D8F-9FDFB76378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200" y="4402502"/>
              <a:ext cx="3773751" cy="1664352"/>
            </a:xfrm>
            <a:prstGeom prst="rect">
              <a:avLst/>
            </a:prstGeom>
          </p:spPr>
        </p:pic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4558EB1C-4F9B-4671-AC71-7190D846E282}"/>
                </a:ext>
              </a:extLst>
            </p:cNvPr>
            <p:cNvSpPr txBox="1"/>
            <p:nvPr/>
          </p:nvSpPr>
          <p:spPr>
            <a:xfrm>
              <a:off x="3297463" y="5638800"/>
              <a:ext cx="99578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800" b="1" dirty="0">
                  <a:solidFill>
                    <a:srgbClr val="FF0000"/>
                  </a:solidFill>
                </a:rPr>
                <a:t>(SAM)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015B9EC-61BA-48A6-9A68-9CF22C223EFF}"/>
              </a:ext>
            </a:extLst>
          </p:cNvPr>
          <p:cNvGrpSpPr/>
          <p:nvPr/>
        </p:nvGrpSpPr>
        <p:grpSpPr>
          <a:xfrm>
            <a:off x="4669221" y="3680698"/>
            <a:ext cx="4169979" cy="2415302"/>
            <a:chOff x="4669221" y="3680698"/>
            <a:chExt cx="4169979" cy="241530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DCBF82C-F103-4B61-974A-2B1433FEE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69221" y="3680698"/>
              <a:ext cx="4169979" cy="2415302"/>
            </a:xfrm>
            <a:prstGeom prst="rect">
              <a:avLst/>
            </a:prstGeom>
          </p:spPr>
        </p:pic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91F1519E-E1C0-45C5-8C7F-C0C32F0098A1}"/>
                </a:ext>
              </a:extLst>
            </p:cNvPr>
            <p:cNvSpPr txBox="1"/>
            <p:nvPr/>
          </p:nvSpPr>
          <p:spPr>
            <a:xfrm>
              <a:off x="7424688" y="5050012"/>
              <a:ext cx="97494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800" b="1" dirty="0">
                  <a:solidFill>
                    <a:srgbClr val="FF0000"/>
                  </a:solidFill>
                </a:rPr>
                <a:t>(VPH)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0228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AED9A3-A0EF-4052-B771-CB55B3D31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808" y="2286000"/>
            <a:ext cx="3596952" cy="31580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B35742-918E-4C79-86D5-54F567BC1D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2286000"/>
            <a:ext cx="3188484" cy="3158002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3FD0D4B7-63B1-4EDD-BC5C-778A840538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Open Sans"/>
                <a:ea typeface="+mj-ea"/>
                <a:cs typeface="Open San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b="1" dirty="0">
                <a:solidFill>
                  <a:srgbClr val="339900"/>
                </a:solidFill>
              </a:rPr>
              <a:t>VPH vs VPR</a:t>
            </a:r>
          </a:p>
        </p:txBody>
      </p:sp>
    </p:spTree>
    <p:extLst>
      <p:ext uri="{BB962C8B-B14F-4D97-AF65-F5344CB8AC3E}">
        <p14:creationId xmlns:p14="http://schemas.microsoft.com/office/powerpoint/2010/main" val="1026440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95D71F-8217-4422-90F9-51D82AFC3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" y="1904867"/>
            <a:ext cx="7993380" cy="3777589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6E26713A-D03C-4756-93C2-AD981F6A6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2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Open Sans"/>
                <a:ea typeface="+mj-ea"/>
                <a:cs typeface="Open San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b="1" dirty="0">
                <a:solidFill>
                  <a:srgbClr val="339900"/>
                </a:solidFill>
              </a:rPr>
              <a:t>VPH: Transactivation of Endogenous Genes</a:t>
            </a:r>
          </a:p>
        </p:txBody>
      </p:sp>
    </p:spTree>
    <p:extLst>
      <p:ext uri="{BB962C8B-B14F-4D97-AF65-F5344CB8AC3E}">
        <p14:creationId xmlns:p14="http://schemas.microsoft.com/office/powerpoint/2010/main" val="4171469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989" y="838200"/>
            <a:ext cx="8589962" cy="16423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04800" y="973468"/>
            <a:ext cx="1845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/>
              <a:t>dCAS9-KRAB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Open Sans"/>
                <a:ea typeface="+mj-ea"/>
                <a:cs typeface="Open San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endParaRPr lang="en-US" kern="0" dirty="0">
              <a:solidFill>
                <a:srgbClr val="3399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B8753F-2719-4A4F-B390-4F1F910618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259" y="2895600"/>
            <a:ext cx="7763103" cy="23622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24223B5-9E31-462C-85E0-D08E36AAA5FE}"/>
              </a:ext>
            </a:extLst>
          </p:cNvPr>
          <p:cNvSpPr txBox="1"/>
          <p:nvPr/>
        </p:nvSpPr>
        <p:spPr>
          <a:xfrm>
            <a:off x="152400" y="3212068"/>
            <a:ext cx="1670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/>
              <a:t>dCAS9-VPH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4F9B21-3AD1-4810-AEB3-28C05D01961D}"/>
              </a:ext>
            </a:extLst>
          </p:cNvPr>
          <p:cNvSpPr/>
          <p:nvPr/>
        </p:nvSpPr>
        <p:spPr>
          <a:xfrm>
            <a:off x="228601" y="126939"/>
            <a:ext cx="89235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kern="0" dirty="0" err="1">
                <a:solidFill>
                  <a:srgbClr val="339900"/>
                </a:solidFill>
                <a:latin typeface="Open Sans"/>
                <a:cs typeface="Arial" panose="020B0604020202020204" pitchFamily="34" charset="0"/>
              </a:rPr>
              <a:t>CRISPRi</a:t>
            </a:r>
            <a:r>
              <a:rPr lang="en-US" sz="3600" b="1" kern="0" dirty="0">
                <a:solidFill>
                  <a:srgbClr val="339900"/>
                </a:solidFill>
                <a:latin typeface="Open Sans"/>
                <a:cs typeface="Arial" panose="020B0604020202020204" pitchFamily="34" charset="0"/>
              </a:rPr>
              <a:t> and </a:t>
            </a:r>
            <a:r>
              <a:rPr lang="en-US" sz="3600" b="1" kern="0" dirty="0" err="1">
                <a:solidFill>
                  <a:srgbClr val="339900"/>
                </a:solidFill>
                <a:latin typeface="Open Sans"/>
                <a:cs typeface="Arial" panose="020B0604020202020204" pitchFamily="34" charset="0"/>
              </a:rPr>
              <a:t>CRISPRa</a:t>
            </a:r>
            <a:r>
              <a:rPr lang="en-US" sz="3600" b="1" kern="0" dirty="0">
                <a:solidFill>
                  <a:srgbClr val="339900"/>
                </a:solidFill>
                <a:latin typeface="Open Sans"/>
                <a:cs typeface="Arial" panose="020B0604020202020204" pitchFamily="34" charset="0"/>
              </a:rPr>
              <a:t> (Hybrid dCas9)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F45BC0-587D-4564-B2A0-54AE983281D8}"/>
              </a:ext>
            </a:extLst>
          </p:cNvPr>
          <p:cNvSpPr txBox="1"/>
          <p:nvPr/>
        </p:nvSpPr>
        <p:spPr>
          <a:xfrm>
            <a:off x="508089" y="4591183"/>
            <a:ext cx="8197762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We configured our own dCas9-activator using the same elements as the SAM activator, except for the MS2 aptamers, that is expressed all on a single constructs.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Facilitates use for CRISPR screens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Uses a standard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sgRNA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structure so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CRISPRa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libraries can also be used with other dCas9-activator variations such as dCas9-VPR 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(Likely that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CRISPRa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screen results may vary somewhat with different activator variations so the ability to swap out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dCas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-activator variations with same library provides more flexibility for screens.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BF1B5A-4200-4826-B904-0402868D3F10}"/>
              </a:ext>
            </a:extLst>
          </p:cNvPr>
          <p:cNvSpPr txBox="1"/>
          <p:nvPr/>
        </p:nvSpPr>
        <p:spPr>
          <a:xfrm>
            <a:off x="381000" y="1932801"/>
            <a:ext cx="81977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Standard dCas9-inhibitor design.</a:t>
            </a:r>
          </a:p>
        </p:txBody>
      </p:sp>
    </p:spTree>
    <p:extLst>
      <p:ext uri="{BB962C8B-B14F-4D97-AF65-F5344CB8AC3E}">
        <p14:creationId xmlns:p14="http://schemas.microsoft.com/office/powerpoint/2010/main" val="2493890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37604" y="4876800"/>
            <a:ext cx="7868791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Screens with </a:t>
            </a:r>
            <a:r>
              <a:rPr lang="en-US" sz="1400" b="1" u="sng" dirty="0">
                <a:solidFill>
                  <a:srgbClr val="33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dCas9-Krab expressing cells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with three different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sgRNA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designs: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sg-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CRISPRi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– Weissman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sgRNA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Designs v2.1 for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CRISPRi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eLife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2016;5:e19760)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sg-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CRISPRa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– Weissman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sgRNA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Designs v2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CRISPRa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eLife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2016;5:e19760)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sg-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CRISPRai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– Novel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Cellecta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test designs </a:t>
            </a:r>
          </a:p>
          <a:p>
            <a:pPr>
              <a:lnSpc>
                <a:spcPct val="150000"/>
              </a:lnSpc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76200"/>
            <a:ext cx="9144000" cy="762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Open Sans"/>
                <a:ea typeface="+mj-ea"/>
                <a:cs typeface="Open San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sz="3200" kern="0" dirty="0" err="1">
                <a:solidFill>
                  <a:srgbClr val="33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CRISPRi</a:t>
            </a:r>
            <a:r>
              <a:rPr lang="en-US" sz="3200" kern="0" dirty="0">
                <a:solidFill>
                  <a:srgbClr val="33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Screens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843592-B37A-49F3-AA80-D4FC4A8CD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604" y="1111119"/>
            <a:ext cx="7868791" cy="3765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331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DF3C89-D770-4A93-B3BC-E0F722812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032972"/>
            <a:ext cx="6248942" cy="3462828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380199F0-C5A0-494F-84C1-53D6E7318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Open Sans"/>
                <a:ea typeface="+mj-ea"/>
                <a:cs typeface="Open San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b="1" dirty="0" err="1">
                <a:solidFill>
                  <a:srgbClr val="339900"/>
                </a:solidFill>
              </a:rPr>
              <a:t>CRISPRa</a:t>
            </a:r>
            <a:r>
              <a:rPr lang="en-US" b="1" dirty="0">
                <a:solidFill>
                  <a:srgbClr val="339900"/>
                </a:solidFill>
              </a:rPr>
              <a:t> </a:t>
            </a:r>
            <a:r>
              <a:rPr lang="en-US" b="1" dirty="0" err="1">
                <a:solidFill>
                  <a:srgbClr val="339900"/>
                </a:solidFill>
              </a:rPr>
              <a:t>sgRNA</a:t>
            </a:r>
            <a:r>
              <a:rPr lang="en-US" b="1" dirty="0">
                <a:solidFill>
                  <a:srgbClr val="339900"/>
                </a:solidFill>
              </a:rPr>
              <a:t> Design Testing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AAC902-5C4E-4367-9E29-EDD2142891FB}"/>
              </a:ext>
            </a:extLst>
          </p:cNvPr>
          <p:cNvSpPr txBox="1"/>
          <p:nvPr/>
        </p:nvSpPr>
        <p:spPr>
          <a:xfrm>
            <a:off x="990600" y="4572000"/>
            <a:ext cx="7315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Screens with </a:t>
            </a:r>
          </a:p>
          <a:p>
            <a:r>
              <a:rPr lang="en-US" sz="1400" b="1" u="sng" dirty="0">
                <a:solidFill>
                  <a:srgbClr val="33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dCas9-VPH cells expressing cells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with three different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sgRNA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designs: 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design-1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– Weissman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sgRNA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Designs v2.1 for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CRISPRi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eLife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2016;5:e19760)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design-2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– Weissman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sgRNA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Designs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CRISPRa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v2 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eLife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2016;5:e19760)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design-3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– Novel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Cellecta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test designs 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9034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4" name="Picture 61" descr="Cellecta_vert_C72M0Y100K0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02575" y="5791200"/>
            <a:ext cx="1108075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AE6CA35-B97F-4A29-BAA9-31CEC1E9ABE9}"/>
              </a:ext>
            </a:extLst>
          </p:cNvPr>
          <p:cNvSpPr/>
          <p:nvPr/>
        </p:nvSpPr>
        <p:spPr>
          <a:xfrm>
            <a:off x="304799" y="381000"/>
            <a:ext cx="8617169" cy="1123384"/>
          </a:xfrm>
          <a:prstGeom prst="rect">
            <a:avLst/>
          </a:prstGeom>
          <a:solidFill>
            <a:srgbClr val="FFCC66"/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CRISPR Human Genome-Wide Knock Out Library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endParaRPr lang="en-US" sz="7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80K Single Module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Library </a:t>
            </a: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Targets all 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~19,000 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protein coding human genes</a:t>
            </a: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en-US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sgRNA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/gene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selected/designed based on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Doench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al., Nature Biotechnology, Jan 2016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3F68CB-B6A4-4B7C-9153-60016E965F73}"/>
              </a:ext>
            </a:extLst>
          </p:cNvPr>
          <p:cNvSpPr/>
          <p:nvPr/>
        </p:nvSpPr>
        <p:spPr>
          <a:xfrm>
            <a:off x="304799" y="2703785"/>
            <a:ext cx="8610600" cy="1123384"/>
          </a:xfrm>
          <a:prstGeom prst="rect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CRISPR Mouse Genome-Wide Knock Out Library</a:t>
            </a:r>
            <a:r>
              <a:rPr lang="en-US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endParaRPr lang="en-US" sz="7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80K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 Module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Library </a:t>
            </a: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Targets ca. 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20,000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protein coding mouse genes</a:t>
            </a: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en-US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sgRNA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/gene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—designed based on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Doench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rules and biased to functional domains.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3F44F5-4829-4A9D-B852-0230100837A2}"/>
              </a:ext>
            </a:extLst>
          </p:cNvPr>
          <p:cNvSpPr/>
          <p:nvPr/>
        </p:nvSpPr>
        <p:spPr>
          <a:xfrm>
            <a:off x="304799" y="1508235"/>
            <a:ext cx="8617169" cy="1061829"/>
          </a:xfrm>
          <a:prstGeom prst="rect">
            <a:avLst/>
          </a:prstGeom>
          <a:solidFill>
            <a:srgbClr val="FFCC66"/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Human Genome-Wide </a:t>
            </a:r>
            <a:r>
              <a:rPr lang="en-US" sz="14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CRISPRa</a:t>
            </a:r>
            <a:r>
              <a:rPr lang="en-US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4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CRISPRi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>
              <a:spcBef>
                <a:spcPts val="600"/>
              </a:spcBef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106K Single Module libraries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Each express ~106,000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sgRNA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targeting almost 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19,000 human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protein coding genes.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</a:t>
            </a:r>
            <a:r>
              <a:rPr lang="en-US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sgRNAs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designed against promoter region for each gene 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050" dirty="0" err="1">
                <a:latin typeface="Arial" panose="020B0604020202020204" pitchFamily="34" charset="0"/>
                <a:cs typeface="Arial" panose="020B0604020202020204" pitchFamily="34" charset="0"/>
              </a:rPr>
              <a:t>Horbeck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, et al., </a:t>
            </a:r>
            <a:r>
              <a:rPr lang="en-US" sz="1050" dirty="0" err="1">
                <a:latin typeface="Arial" panose="020B0604020202020204" pitchFamily="34" charset="0"/>
                <a:cs typeface="Arial" panose="020B0604020202020204" pitchFamily="34" charset="0"/>
              </a:rPr>
              <a:t>eLife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 2016;5:e19760 DOI: 10.7554)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04CB72-163D-40AF-ABD4-5FC663362FA0}"/>
              </a:ext>
            </a:extLst>
          </p:cNvPr>
          <p:cNvSpPr/>
          <p:nvPr/>
        </p:nvSpPr>
        <p:spPr>
          <a:xfrm>
            <a:off x="304800" y="3836275"/>
            <a:ext cx="8610600" cy="846386"/>
          </a:xfrm>
          <a:prstGeom prst="rect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Mouse Genome-Wide </a:t>
            </a:r>
            <a:r>
              <a:rPr lang="en-US" b="1" u="sng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CRISPRa</a:t>
            </a:r>
            <a:r>
              <a:rPr lang="en-US" b="1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u="sng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CRISPRi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Single Module libraries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express ~109,000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sgRNA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sgRNA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targeting almost 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~20,000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mouse protein coding genes.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</a:t>
            </a:r>
            <a:r>
              <a:rPr lang="en-US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sgRNAs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designed against the promoter region (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Horbeck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et al., 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eLife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2016;5:e19760 DOI: 10.7554)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8EF391-5690-4766-82F9-1A25A24C3772}"/>
              </a:ext>
            </a:extLst>
          </p:cNvPr>
          <p:cNvSpPr/>
          <p:nvPr/>
        </p:nvSpPr>
        <p:spPr>
          <a:xfrm>
            <a:off x="311368" y="4816494"/>
            <a:ext cx="8610600" cy="16312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b="1" u="sng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Custom RNAi and CRISPR Libraries</a:t>
            </a:r>
            <a:endParaRPr lang="en-US" u="sng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Service includes design/synthesis and cloning and of the oligos and NGS sequencing to verify representation. 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Target any set of genes with any number of </a:t>
            </a:r>
            <a:r>
              <a:rPr lang="en-US" sz="14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shRNAs</a:t>
            </a:r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or </a:t>
            </a:r>
            <a:r>
              <a:rPr lang="en-US" sz="14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sgRNAs</a:t>
            </a:r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per gene.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Choose any of our several vectors or have us clone into one you provide 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Ability to design libraries to target non-human genomes—mouse, rat, pig, etc. 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HEAT </a:t>
            </a:r>
            <a:r>
              <a:rPr lang="en-US" sz="14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sgRNA</a:t>
            </a:r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designs, standard version, or other customer-defined variations</a:t>
            </a:r>
          </a:p>
        </p:txBody>
      </p:sp>
    </p:spTree>
    <p:extLst>
      <p:ext uri="{BB962C8B-B14F-4D97-AF65-F5344CB8AC3E}">
        <p14:creationId xmlns:p14="http://schemas.microsoft.com/office/powerpoint/2010/main" val="1072754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www.cellecta.com/wp-content/uploads/Cellecta-Agilent-CRISPR-library-construction-180404r2.jpg">
            <a:extLst>
              <a:ext uri="{FF2B5EF4-FFF2-40B4-BE49-F238E27FC236}">
                <a16:creationId xmlns:a16="http://schemas.microsoft.com/office/drawing/2014/main" id="{61CEE089-5174-43CF-B673-874071BC3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3816" y="381000"/>
            <a:ext cx="3186426" cy="609600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6710" y="178657"/>
            <a:ext cx="5862145" cy="119294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eaLnBrk="1" hangingPunct="1">
              <a:lnSpc>
                <a:spcPct val="75000"/>
              </a:lnSpc>
            </a:pPr>
            <a:r>
              <a:rPr lang="en-US" sz="3700" b="1" kern="1200" dirty="0">
                <a:solidFill>
                  <a:srgbClr val="0070C0"/>
                </a:solidFill>
              </a:rPr>
              <a:t>Agilent’s Quality Oligos </a:t>
            </a:r>
            <a:br>
              <a:rPr lang="en-US" sz="3700" b="1" kern="1200" dirty="0">
                <a:solidFill>
                  <a:srgbClr val="0070C0"/>
                </a:solidFill>
              </a:rPr>
            </a:br>
            <a:r>
              <a:rPr lang="en-US" sz="3700" b="1" kern="1200" dirty="0">
                <a:solidFill>
                  <a:schemeClr val="tx2"/>
                </a:solidFill>
              </a:rPr>
              <a:t>+</a:t>
            </a:r>
            <a:r>
              <a:rPr lang="en-US" sz="3700" b="1" kern="1200" dirty="0">
                <a:solidFill>
                  <a:srgbClr val="006600"/>
                </a:solidFill>
              </a:rPr>
              <a:t> </a:t>
            </a:r>
            <a:br>
              <a:rPr lang="en-US" sz="3700" b="1" kern="1200" dirty="0">
                <a:solidFill>
                  <a:srgbClr val="006600"/>
                </a:solidFill>
              </a:rPr>
            </a:br>
            <a:r>
              <a:rPr lang="en-US" sz="3700" b="1" kern="1200" dirty="0" err="1">
                <a:solidFill>
                  <a:srgbClr val="339900"/>
                </a:solidFill>
              </a:rPr>
              <a:t>Cellecta’s</a:t>
            </a:r>
            <a:r>
              <a:rPr lang="en-US" sz="3700" b="1" kern="1200" dirty="0">
                <a:solidFill>
                  <a:srgbClr val="339900"/>
                </a:solidFill>
              </a:rPr>
              <a:t> Library Expertise 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 bwMode="auto">
          <a:xfrm>
            <a:off x="76200" y="1600200"/>
            <a:ext cx="5410200" cy="2578510"/>
          </a:xfrm>
          <a:prstGeom prst="rect">
            <a:avLst/>
          </a:prstGeom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342900" lvl="0" indent="-2286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17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Give us your gene or guide list and get a fully cloned NGS-verified CRISPR libraries </a:t>
            </a:r>
          </a:p>
          <a:p>
            <a:pPr marL="342900" lvl="0" indent="-2286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17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Have library made with Agilent’s </a:t>
            </a:r>
            <a:r>
              <a:rPr lang="en-US" sz="1700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pSGLenti</a:t>
            </a:r>
            <a:r>
              <a:rPr lang="en-US" sz="17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vector, any of a range of </a:t>
            </a:r>
            <a:r>
              <a:rPr lang="en-US" sz="1700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Cellecta</a:t>
            </a:r>
            <a:r>
              <a:rPr lang="en-US" sz="17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vectors, or your vector</a:t>
            </a:r>
          </a:p>
          <a:p>
            <a:pPr marL="342900" lvl="0" indent="-2286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17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Packaging options available to you receive a fully </a:t>
            </a:r>
            <a:r>
              <a:rPr lang="en-US" sz="1700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QCed</a:t>
            </a:r>
            <a:r>
              <a:rPr lang="en-US" sz="17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library that can directly added to cells to start a screen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B84D6C-9B8A-4928-90F7-ABBC5F199CDB}"/>
              </a:ext>
            </a:extLst>
          </p:cNvPr>
          <p:cNvSpPr/>
          <p:nvPr/>
        </p:nvSpPr>
        <p:spPr>
          <a:xfrm>
            <a:off x="19051" y="4191000"/>
            <a:ext cx="564825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Just contact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Cellecta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and we do the rest…</a:t>
            </a:r>
          </a:p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Design and purchase Agilent guide oligonucleotides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Clone into the vector of your choice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QC library by Sanger Sequencing of individual clones and full NGS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Provide you with 500ug of the plasmid, plus NGS distribution of guide sequences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Option to package library into ready-to-transduce VSV-g lentiviral particles </a:t>
            </a:r>
          </a:p>
        </p:txBody>
      </p:sp>
    </p:spTree>
    <p:extLst>
      <p:ext uri="{BB962C8B-B14F-4D97-AF65-F5344CB8AC3E}">
        <p14:creationId xmlns:p14="http://schemas.microsoft.com/office/powerpoint/2010/main" val="67652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361049" y="4490736"/>
          <a:ext cx="8421901" cy="14525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6738">
                  <a:extLst>
                    <a:ext uri="{9D8B030D-6E8A-4147-A177-3AD203B41FA5}">
                      <a16:colId xmlns:a16="http://schemas.microsoft.com/office/drawing/2014/main" val="4268525475"/>
                    </a:ext>
                  </a:extLst>
                </a:gridCol>
                <a:gridCol w="4571045">
                  <a:extLst>
                    <a:ext uri="{9D8B030D-6E8A-4147-A177-3AD203B41FA5}">
                      <a16:colId xmlns:a16="http://schemas.microsoft.com/office/drawing/2014/main" val="1937404825"/>
                    </a:ext>
                  </a:extLst>
                </a:gridCol>
                <a:gridCol w="1651946">
                  <a:extLst>
                    <a:ext uri="{9D8B030D-6E8A-4147-A177-3AD203B41FA5}">
                      <a16:colId xmlns:a16="http://schemas.microsoft.com/office/drawing/2014/main" val="576000351"/>
                    </a:ext>
                  </a:extLst>
                </a:gridCol>
                <a:gridCol w="922172">
                  <a:extLst>
                    <a:ext uri="{9D8B030D-6E8A-4147-A177-3AD203B41FA5}">
                      <a16:colId xmlns:a16="http://schemas.microsoft.com/office/drawing/2014/main" val="3697712312"/>
                    </a:ext>
                  </a:extLst>
                </a:gridCol>
              </a:tblGrid>
              <a:tr h="3343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dirty="0">
                          <a:effectLst/>
                        </a:rPr>
                        <a:t>Catalog #</a:t>
                      </a:r>
                      <a:endParaRPr lang="en-US" sz="1400" b="1" dirty="0">
                        <a:solidFill>
                          <a:srgbClr val="555555"/>
                        </a:solidFill>
                        <a:effectLst/>
                      </a:endParaRPr>
                    </a:p>
                  </a:txBody>
                  <a:tcPr marL="171450" marR="171450" marT="64294" marB="64294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dirty="0">
                          <a:effectLst/>
                        </a:rPr>
                        <a:t>Item Description</a:t>
                      </a:r>
                      <a:endParaRPr lang="en-US" sz="1400" b="1" dirty="0">
                        <a:solidFill>
                          <a:srgbClr val="555555"/>
                        </a:solidFill>
                        <a:effectLst/>
                      </a:endParaRPr>
                    </a:p>
                  </a:txBody>
                  <a:tcPr marL="171450" marR="171450" marT="64294" marB="64294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>
                          <a:effectLst/>
                        </a:rPr>
                        <a:t>Amount</a:t>
                      </a:r>
                      <a:endParaRPr lang="en-US" sz="1400" b="1">
                        <a:solidFill>
                          <a:srgbClr val="555555"/>
                        </a:solidFill>
                        <a:effectLst/>
                      </a:endParaRPr>
                    </a:p>
                  </a:txBody>
                  <a:tcPr marL="171450" marR="171450" marT="64294" marB="64294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dirty="0">
                          <a:effectLst/>
                        </a:rPr>
                        <a:t>Price</a:t>
                      </a:r>
                      <a:endParaRPr lang="en-US" sz="1400" b="1" dirty="0">
                        <a:solidFill>
                          <a:srgbClr val="555555"/>
                        </a:solidFill>
                        <a:effectLst/>
                      </a:endParaRPr>
                    </a:p>
                  </a:txBody>
                  <a:tcPr marL="171450" marR="171450" marT="64294" marB="64294" anchor="ctr"/>
                </a:tc>
                <a:extLst>
                  <a:ext uri="{0D108BD9-81ED-4DB2-BD59-A6C34878D82A}">
                    <a16:rowId xmlns:a16="http://schemas.microsoft.com/office/drawing/2014/main" val="2314021195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CRUTEST</a:t>
                      </a:r>
                    </a:p>
                  </a:txBody>
                  <a:tcPr marL="171450" marR="171450" marT="42863" marB="4286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 err="1">
                          <a:effectLst/>
                        </a:rPr>
                        <a:t>CRISPRuTest</a:t>
                      </a:r>
                      <a:r>
                        <a:rPr lang="en-US" sz="1400" dirty="0">
                          <a:effectLst/>
                        </a:rPr>
                        <a:t>™ Functional Cas9 Nuclease Activity Assay Kit for Any Cell Type (Mammalian)</a:t>
                      </a:r>
                    </a:p>
                  </a:txBody>
                  <a:tcPr marL="171450" marR="171450" marT="42863" marB="4286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1 kit – 10 cells</a:t>
                      </a:r>
                    </a:p>
                  </a:txBody>
                  <a:tcPr marL="171450" marR="171450" marT="42863" marB="4286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$ 850</a:t>
                      </a:r>
                    </a:p>
                  </a:txBody>
                  <a:tcPr marL="171450" marR="171450" marT="42863" marB="42863"/>
                </a:tc>
                <a:extLst>
                  <a:ext uri="{0D108BD9-81ED-4DB2-BD59-A6C34878D82A}">
                    <a16:rowId xmlns:a16="http://schemas.microsoft.com/office/drawing/2014/main" val="242326917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CRATEST</a:t>
                      </a:r>
                    </a:p>
                  </a:txBody>
                  <a:tcPr marL="171450" marR="171450" marT="42863" marB="4286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>
                          <a:effectLst/>
                        </a:rPr>
                        <a:t>CRISPRaTest</a:t>
                      </a:r>
                      <a:r>
                        <a:rPr lang="en-US" sz="1400" dirty="0">
                          <a:effectLst/>
                        </a:rPr>
                        <a:t>™ Functional dCas9-Activator Assay Kit</a:t>
                      </a:r>
                    </a:p>
                  </a:txBody>
                  <a:tcPr marL="171450" marR="171450" marT="42863" marB="4286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1 kit – 20 cells </a:t>
                      </a:r>
                    </a:p>
                  </a:txBody>
                  <a:tcPr marL="171450" marR="171450" marT="42863" marB="4286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$ 850</a:t>
                      </a:r>
                    </a:p>
                  </a:txBody>
                  <a:tcPr marL="171450" marR="171450" marT="42863" marB="42863"/>
                </a:tc>
                <a:extLst>
                  <a:ext uri="{0D108BD9-81ED-4DB2-BD59-A6C34878D82A}">
                    <a16:rowId xmlns:a16="http://schemas.microsoft.com/office/drawing/2014/main" val="63946718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CRITEST</a:t>
                      </a:r>
                    </a:p>
                  </a:txBody>
                  <a:tcPr marL="171450" marR="171450" marT="42863" marB="4286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>
                          <a:effectLst/>
                        </a:rPr>
                        <a:t>CRISPRiTest</a:t>
                      </a:r>
                      <a:r>
                        <a:rPr lang="en-US" sz="1400" dirty="0">
                          <a:effectLst/>
                        </a:rPr>
                        <a:t>™ Functional dCas9-Repressor Assay Kit</a:t>
                      </a:r>
                      <a:endParaRPr lang="en-US" sz="1400" b="0" dirty="0">
                        <a:effectLst/>
                      </a:endParaRPr>
                    </a:p>
                  </a:txBody>
                  <a:tcPr marL="171450" marR="171450" marT="42863" marB="4286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1 kit – </a:t>
                      </a:r>
                      <a:r>
                        <a:rPr lang="en-US" sz="1400">
                          <a:effectLst/>
                        </a:rPr>
                        <a:t>20 cells</a:t>
                      </a:r>
                      <a:endParaRPr lang="en-US" sz="1400" dirty="0">
                        <a:effectLst/>
                      </a:endParaRPr>
                    </a:p>
                  </a:txBody>
                  <a:tcPr marL="171450" marR="171450" marT="42863" marB="4286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$ 850</a:t>
                      </a:r>
                    </a:p>
                  </a:txBody>
                  <a:tcPr marL="171450" marR="171450" marT="42863" marB="42863"/>
                </a:tc>
                <a:extLst>
                  <a:ext uri="{0D108BD9-81ED-4DB2-BD59-A6C34878D82A}">
                    <a16:rowId xmlns:a16="http://schemas.microsoft.com/office/drawing/2014/main" val="857162007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28575"/>
            <a:ext cx="9144000" cy="762000"/>
          </a:xfrm>
        </p:spPr>
        <p:txBody>
          <a:bodyPr/>
          <a:lstStyle/>
          <a:p>
            <a:r>
              <a:rPr lang="en-US" b="1" dirty="0">
                <a:solidFill>
                  <a:srgbClr val="339900"/>
                </a:solidFill>
              </a:rPr>
              <a:t>CRISPR-Test Assay Kits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4849" y="1169246"/>
            <a:ext cx="5658751" cy="31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Measure functional activity of </a:t>
            </a:r>
          </a:p>
          <a:p>
            <a:pPr algn="ctr">
              <a:spcAft>
                <a:spcPts val="600"/>
              </a:spcAft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- Cas9 nuclease :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CRISPR</a:t>
            </a:r>
            <a:r>
              <a:rPr lang="en-US" sz="1600" b="1" u="sng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Test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600"/>
              </a:spcAft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- dCas9-activator :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CRISPR</a:t>
            </a:r>
            <a:r>
              <a:rPr lang="en-US" sz="1600" b="1" u="sng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Test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600"/>
              </a:spcAft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- dCas9-repressor :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CRISPR</a:t>
            </a:r>
            <a:r>
              <a:rPr lang="en-US" sz="1600" b="1" u="sng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Test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Works with any mammalian cell line in 4-6 days </a:t>
            </a:r>
          </a:p>
          <a:p>
            <a:pPr lvl="1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(original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CRISPRtest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only works in human cells)</a:t>
            </a:r>
          </a:p>
          <a:p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Quantitative FACS-based readouts</a:t>
            </a:r>
          </a:p>
          <a:p>
            <a:endParaRPr lang="en-US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Complete kits with ready-to-transduce lentiviral particles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sz="135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2280" y="786252"/>
            <a:ext cx="2945920" cy="287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127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28575"/>
            <a:ext cx="9144000" cy="762000"/>
          </a:xfrm>
        </p:spPr>
        <p:txBody>
          <a:bodyPr/>
          <a:lstStyle/>
          <a:p>
            <a:r>
              <a:rPr lang="en-US" sz="2400" b="1" dirty="0">
                <a:solidFill>
                  <a:srgbClr val="339900"/>
                </a:solidFill>
              </a:rPr>
              <a:t>Next-Generation Sequencing (NGS) Library Prep Kits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70935" y="1008558"/>
            <a:ext cx="4058452" cy="3666959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Kits include all primers and PCR reagents needed to prepare 24 samples for multiplex runs on Illumina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NextSeq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HiSeq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NGS platforms</a:t>
            </a:r>
          </a:p>
          <a:p>
            <a:pPr>
              <a:spcBef>
                <a:spcPts val="600"/>
              </a:spcBef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Analysis kits available for various CRISPR, RNAi, barcode libraries</a:t>
            </a:r>
          </a:p>
          <a:p>
            <a:pPr lvl="1">
              <a:spcBef>
                <a:spcPts val="600"/>
              </a:spcBef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All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Cellecta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Libraries</a:t>
            </a:r>
          </a:p>
          <a:p>
            <a:pPr lvl="1">
              <a:spcBef>
                <a:spcPts val="600"/>
              </a:spcBef>
              <a:buFontTx/>
              <a:buChar char="-"/>
            </a:pP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GeCKO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Brunello, Brie</a:t>
            </a:r>
          </a:p>
          <a:p>
            <a:pPr lvl="1">
              <a:spcBef>
                <a:spcPts val="600"/>
              </a:spcBef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Other common libraries in same vectors</a:t>
            </a:r>
          </a:p>
          <a:p>
            <a:pPr>
              <a:spcBef>
                <a:spcPts val="600"/>
              </a:spcBef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NGS and Analysis Services still also available</a:t>
            </a:r>
          </a:p>
          <a:p>
            <a:pPr lvl="1">
              <a:spcBef>
                <a:spcPts val="600"/>
              </a:spcBef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For researchers running their own screens</a:t>
            </a:r>
          </a:p>
          <a:p>
            <a:pPr lvl="1">
              <a:spcBef>
                <a:spcPts val="600"/>
              </a:spcBef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Includes DNA extraction, amplification, sequencing, and determining guide, shRNA or barcode counts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11696"/>
          <a:stretch/>
        </p:blipFill>
        <p:spPr>
          <a:xfrm>
            <a:off x="5892463" y="1024324"/>
            <a:ext cx="3057083" cy="2628820"/>
          </a:xfrm>
          <a:prstGeom prst="rect">
            <a:avLst/>
          </a:prstGeom>
        </p:spPr>
      </p:pic>
      <p:graphicFrame>
        <p:nvGraphicFramePr>
          <p:cNvPr id="8" name="Content Placeholder 3"/>
          <p:cNvGraphicFramePr>
            <a:graphicFrameLocks/>
          </p:cNvGraphicFramePr>
          <p:nvPr>
            <p:extLst/>
          </p:nvPr>
        </p:nvGraphicFramePr>
        <p:xfrm>
          <a:off x="231117" y="4088921"/>
          <a:ext cx="6473404" cy="24596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7507">
                  <a:extLst>
                    <a:ext uri="{9D8B030D-6E8A-4147-A177-3AD203B41FA5}">
                      <a16:colId xmlns:a16="http://schemas.microsoft.com/office/drawing/2014/main" val="4268525475"/>
                    </a:ext>
                  </a:extLst>
                </a:gridCol>
                <a:gridCol w="3895563">
                  <a:extLst>
                    <a:ext uri="{9D8B030D-6E8A-4147-A177-3AD203B41FA5}">
                      <a16:colId xmlns:a16="http://schemas.microsoft.com/office/drawing/2014/main" val="1937404825"/>
                    </a:ext>
                  </a:extLst>
                </a:gridCol>
                <a:gridCol w="913097">
                  <a:extLst>
                    <a:ext uri="{9D8B030D-6E8A-4147-A177-3AD203B41FA5}">
                      <a16:colId xmlns:a16="http://schemas.microsoft.com/office/drawing/2014/main" val="576000351"/>
                    </a:ext>
                  </a:extLst>
                </a:gridCol>
                <a:gridCol w="637237">
                  <a:extLst>
                    <a:ext uri="{9D8B030D-6E8A-4147-A177-3AD203B41FA5}">
                      <a16:colId xmlns:a16="http://schemas.microsoft.com/office/drawing/2014/main" val="3697712312"/>
                    </a:ext>
                  </a:extLst>
                </a:gridCol>
              </a:tblGrid>
              <a:tr h="250166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Catalog #</a:t>
                      </a:r>
                      <a:endParaRPr lang="en-US" sz="900" b="1" dirty="0">
                        <a:solidFill>
                          <a:srgbClr val="555555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450" marR="171450" marT="64294" marB="64294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Item Description</a:t>
                      </a:r>
                      <a:endParaRPr lang="en-US" sz="900" b="1" dirty="0">
                        <a:solidFill>
                          <a:srgbClr val="555555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450" marR="171450" marT="64294" marB="64294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Amount</a:t>
                      </a:r>
                      <a:endParaRPr lang="en-US" sz="900" b="1" dirty="0">
                        <a:solidFill>
                          <a:srgbClr val="555555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450" marR="171450" marT="64294" marB="64294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Price</a:t>
                      </a:r>
                      <a:endParaRPr lang="en-US" sz="900" b="1" dirty="0">
                        <a:solidFill>
                          <a:srgbClr val="555555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450" marR="171450" marT="64294" marB="64294" anchor="ctr"/>
                </a:tc>
                <a:extLst>
                  <a:ext uri="{0D108BD9-81ED-4DB2-BD59-A6C34878D82A}">
                    <a16:rowId xmlns:a16="http://schemas.microsoft.com/office/drawing/2014/main" val="2314021195"/>
                  </a:ext>
                </a:extLst>
              </a:tr>
              <a:tr h="312222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LNGS-101</a:t>
                      </a:r>
                    </a:p>
                  </a:txBody>
                  <a:tcPr marL="171450" marR="171450" marT="42863" marB="4286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NGS Prep Kit for </a:t>
                      </a:r>
                      <a:r>
                        <a:rPr lang="en-US" sz="9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DECIPHER</a:t>
                      </a:r>
                      <a:r>
                        <a:rPr lang="en-US" sz="9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(shRNA barcoded libraries in pRSI12)</a:t>
                      </a:r>
                    </a:p>
                  </a:txBody>
                  <a:tcPr marL="171450" marR="171450" marT="42863" marB="4286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kit – 24 samples</a:t>
                      </a:r>
                    </a:p>
                  </a:txBody>
                  <a:tcPr marL="171450" marR="171450" marT="42863" marB="4286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$875</a:t>
                      </a:r>
                    </a:p>
                  </a:txBody>
                  <a:tcPr marL="171450" marR="171450" marT="42863" marB="42863"/>
                </a:tc>
                <a:extLst>
                  <a:ext uri="{0D108BD9-81ED-4DB2-BD59-A6C34878D82A}">
                    <a16:rowId xmlns:a16="http://schemas.microsoft.com/office/drawing/2014/main" val="2423269175"/>
                  </a:ext>
                </a:extLst>
              </a:tr>
              <a:tr h="331738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LNGS-102</a:t>
                      </a:r>
                    </a:p>
                  </a:txBody>
                  <a:tcPr marL="171450" marR="171450" marT="42863" marB="4286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NGS Prep Kit for </a:t>
                      </a:r>
                      <a:r>
                        <a:rPr lang="en-US" sz="9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HGW shRNA</a:t>
                      </a:r>
                      <a:r>
                        <a:rPr lang="en-US" sz="9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(barcoded libraries in pRSI16/pRSI17)</a:t>
                      </a:r>
                    </a:p>
                  </a:txBody>
                  <a:tcPr marL="171450" marR="171450" marT="42863" marB="4286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 kit – 24 samples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71450" marR="171450" marT="42863" marB="4286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$875</a:t>
                      </a:r>
                      <a:endParaRPr lang="en-US" sz="9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450" marR="171450" marT="42863" marB="42863"/>
                </a:tc>
                <a:extLst>
                  <a:ext uri="{0D108BD9-81ED-4DB2-BD59-A6C34878D82A}">
                    <a16:rowId xmlns:a16="http://schemas.microsoft.com/office/drawing/2014/main" val="2110778272"/>
                  </a:ext>
                </a:extLst>
              </a:tr>
              <a:tr h="342628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LNGS-120</a:t>
                      </a:r>
                    </a:p>
                  </a:txBody>
                  <a:tcPr marL="171450" marR="171450" marT="42863" marB="4286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NGS Prep Kit for </a:t>
                      </a:r>
                      <a:r>
                        <a:rPr lang="en-US" sz="9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KOHGW CRISPR </a:t>
                      </a:r>
                      <a:r>
                        <a:rPr lang="en-US" sz="9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sgRNA</a:t>
                      </a:r>
                      <a:r>
                        <a:rPr lang="en-US" sz="9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(libraries in pRSG16/pRSG17)</a:t>
                      </a:r>
                      <a:r>
                        <a:rPr lang="en-US" sz="9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L="171450" marR="171450" marT="42863" marB="4286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 kit – 24 samples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71450" marR="171450" marT="42863" marB="4286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$875</a:t>
                      </a:r>
                      <a:endParaRPr lang="en-US" sz="9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450" marR="171450" marT="42863" marB="42863"/>
                </a:tc>
                <a:extLst>
                  <a:ext uri="{0D108BD9-81ED-4DB2-BD59-A6C34878D82A}">
                    <a16:rowId xmlns:a16="http://schemas.microsoft.com/office/drawing/2014/main" val="579938"/>
                  </a:ext>
                </a:extLst>
              </a:tr>
              <a:tr h="319012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LNGS-200</a:t>
                      </a:r>
                    </a:p>
                  </a:txBody>
                  <a:tcPr marL="171450" marR="171450" marT="42863" marB="4286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NGS Prep Kit for </a:t>
                      </a:r>
                      <a:r>
                        <a:rPr lang="en-US" sz="9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CellTracker</a:t>
                      </a:r>
                      <a:r>
                        <a:rPr lang="en-US" sz="9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™ Barcode Libraries </a:t>
                      </a:r>
                      <a:r>
                        <a:rPr lang="en-US" sz="9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(pRSI16/pRSi17)</a:t>
                      </a:r>
                    </a:p>
                  </a:txBody>
                  <a:tcPr marL="171450" marR="171450" marT="42863" marB="4286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 kit – 24 samples</a:t>
                      </a:r>
                    </a:p>
                  </a:txBody>
                  <a:tcPr marL="171450" marR="171450" marT="42863" marB="4286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$875</a:t>
                      </a:r>
                      <a:endParaRPr lang="en-US" sz="9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450" marR="171450" marT="42863" marB="42863"/>
                </a:tc>
                <a:extLst>
                  <a:ext uri="{0D108BD9-81ED-4DB2-BD59-A6C34878D82A}">
                    <a16:rowId xmlns:a16="http://schemas.microsoft.com/office/drawing/2014/main" val="1911223013"/>
                  </a:ext>
                </a:extLst>
              </a:tr>
              <a:tr h="295396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LNGS-900</a:t>
                      </a:r>
                    </a:p>
                  </a:txBody>
                  <a:tcPr marL="171450" marR="171450" marT="42863" marB="4286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NGS Prep Kit for </a:t>
                      </a:r>
                      <a:r>
                        <a:rPr lang="en-US" sz="9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LentiGuide</a:t>
                      </a:r>
                      <a:r>
                        <a:rPr lang="en-US" sz="9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sgRNA</a:t>
                      </a:r>
                      <a:r>
                        <a:rPr lang="en-US" sz="9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libraries </a:t>
                      </a:r>
                      <a:r>
                        <a:rPr lang="en-US" sz="9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(e.g. </a:t>
                      </a:r>
                      <a:r>
                        <a:rPr lang="en-US" sz="9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GeCKO</a:t>
                      </a:r>
                      <a:r>
                        <a:rPr lang="en-US" sz="9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Brunello, Brie)</a:t>
                      </a:r>
                    </a:p>
                  </a:txBody>
                  <a:tcPr marL="171450" marR="171450" marT="42863" marB="4286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 kit – 24 samples</a:t>
                      </a:r>
                    </a:p>
                  </a:txBody>
                  <a:tcPr marL="171450" marR="171450" marT="42863" marB="4286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$875</a:t>
                      </a:r>
                      <a:endParaRPr lang="en-US" sz="9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450" marR="171450" marT="42863" marB="42863"/>
                </a:tc>
                <a:extLst>
                  <a:ext uri="{0D108BD9-81ED-4DB2-BD59-A6C34878D82A}">
                    <a16:rowId xmlns:a16="http://schemas.microsoft.com/office/drawing/2014/main" val="2117895946"/>
                  </a:ext>
                </a:extLst>
              </a:tr>
              <a:tr h="393658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LNGS-905</a:t>
                      </a:r>
                    </a:p>
                  </a:txBody>
                  <a:tcPr marL="171450" marR="171450" marT="42863" marB="4286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NGS Prep Kit for </a:t>
                      </a:r>
                      <a:r>
                        <a:rPr lang="en-US" sz="9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LentiCRISPRv2 </a:t>
                      </a:r>
                      <a:r>
                        <a:rPr lang="en-US" sz="9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sgRNA</a:t>
                      </a:r>
                      <a:r>
                        <a:rPr lang="en-US" sz="9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libraries </a:t>
                      </a:r>
                      <a:r>
                        <a:rPr lang="en-US" sz="9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(e.g. </a:t>
                      </a:r>
                      <a:r>
                        <a:rPr lang="en-US" sz="9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GeCKO</a:t>
                      </a:r>
                      <a:r>
                        <a:rPr lang="en-US" sz="9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single vector, Brunello </a:t>
                      </a:r>
                      <a:r>
                        <a:rPr lang="en-US" sz="9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Kinome</a:t>
                      </a:r>
                      <a:r>
                        <a:rPr lang="en-US" sz="9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171450" marR="171450" marT="42863" marB="4286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 kit – 24 samples</a:t>
                      </a:r>
                    </a:p>
                  </a:txBody>
                  <a:tcPr marL="171450" marR="171450" marT="42863" marB="4286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$875</a:t>
                      </a:r>
                      <a:endParaRPr lang="en-US" sz="9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450" marR="171450" marT="42863" marB="42863"/>
                </a:tc>
                <a:extLst>
                  <a:ext uri="{0D108BD9-81ED-4DB2-BD59-A6C34878D82A}">
                    <a16:rowId xmlns:a16="http://schemas.microsoft.com/office/drawing/2014/main" val="2541086884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010400" y="4021478"/>
            <a:ext cx="1939146" cy="232627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spcBef>
                <a:spcPts val="450"/>
              </a:spcBef>
            </a:pPr>
            <a:r>
              <a:rPr lang="en-US" sz="20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Sequencing Service (CANA-SQD) </a:t>
            </a:r>
          </a:p>
          <a:p>
            <a:pPr algn="ctr">
              <a:spcBef>
                <a:spcPts val="450"/>
              </a:spcBef>
            </a:pPr>
            <a:r>
              <a:rPr lang="en-US" sz="135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Also available for samples run using </a:t>
            </a:r>
            <a:r>
              <a:rPr lang="en-US" sz="1350" b="1" u="sng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GeCKO</a:t>
            </a:r>
            <a:r>
              <a:rPr lang="en-US" sz="135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350" b="1" u="sng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Brunello</a:t>
            </a:r>
            <a:r>
              <a:rPr lang="en-US" sz="135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350" b="1" u="sng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Brie</a:t>
            </a:r>
            <a:r>
              <a:rPr lang="en-US" sz="135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other non-</a:t>
            </a:r>
            <a:r>
              <a:rPr lang="en-US" sz="135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Cellecta</a:t>
            </a:r>
            <a:r>
              <a:rPr lang="en-US" sz="135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CRISPR libraries.  </a:t>
            </a:r>
            <a:endParaRPr lang="en-US" sz="1350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94544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457200" marR="0" indent="-4572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>
            <a:tab pos="762000" algn="l"/>
          </a:tabLst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457200" marR="0" indent="-4572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>
            <a:tab pos="762000" algn="l"/>
          </a:tabLst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931</Words>
  <Application>Microsoft Office PowerPoint</Application>
  <PresentationFormat>On-screen Show (4:3)</PresentationFormat>
  <Paragraphs>152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SimSun</vt:lpstr>
      <vt:lpstr>SimSun</vt:lpstr>
      <vt:lpstr>Arial</vt:lpstr>
      <vt:lpstr>Calibri</vt:lpstr>
      <vt:lpstr>Open Sans</vt:lpstr>
      <vt:lpstr>Symbol</vt:lpstr>
      <vt:lpstr>Times New Roman</vt:lpstr>
      <vt:lpstr>Verdana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Agilent’s Quality Oligos  +  Cellecta’s Library Expertise </vt:lpstr>
      <vt:lpstr>CRISPR-Test Assay Kits</vt:lpstr>
      <vt:lpstr>Next-Generation Sequencing (NGS) Library Prep Kits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2011-05-25T17:32:57Z</dcterms:created>
  <dcterms:modified xsi:type="dcterms:W3CDTF">2018-05-11T23:41:58Z</dcterms:modified>
</cp:coreProperties>
</file>